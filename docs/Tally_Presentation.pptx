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tivation" id="{0fe559bf-53bc-34be-7370-9e50fe71f2c8}">
          <p14:sldIdLst>
            <p14:sldId id="256"/>
            <p14:sldId id="257"/>
            <p14:sldId id="258"/>
            <p14:sldId id="259"/>
          </p14:sldIdLst>
        </p14:section>
        <p14:section name="Happy path" id="{50d2c8c3-c21a-b3d3-dcac-fede9e41550c}">
          <p14:sldIdLst>
            <p14:sldId id="260"/>
            <p14:sldId id="261"/>
            <p14:sldId id="262"/>
            <p14:sldId id="263"/>
            <p14:sldId id="264"/>
            <p14:sldId id="265"/>
            <p14:sldId id="266"/>
            <p14:sldId id="267"/>
            <p14:sldId id="268"/>
          </p14:sldIdLst>
        </p14:section>
        <p14:section name="System design" id="{3dbe896e-ee82-c998-9393-d1a2e840de51}">
          <p14:sldIdLst>
            <p14:sldId id="269"/>
            <p14:sldId id="270"/>
            <p14:sldId id="271"/>
            <p14:sldId id="272"/>
          </p14:sldIdLst>
        </p14:section>
        <p14:section name="Simulated data" id="{73c35ce9-bd49-feb3-b724-b543e5bc5efb}">
          <p14:sldIdLst>
            <p14:sldId id="273"/>
            <p14:sldId id="274"/>
          </p14:sldIdLst>
        </p14:section>
        <p14:section name="Demo" id="{016a92f2-6169-7dec-4b1d-ccb6aa43cd2e}">
          <p14:sldIdLst>
            <p14:sldId id="275"/>
          </p14:sldIdLst>
        </p14:section>
        <p14:section name="Wrap-up" id="{e127c94c-9763-695a-b544-fa4d677b1535}">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27"/>
                </a:solidFill>
                <a:latin typeface="+mn-lt"/>
              </a:defRPr>
            </a:pPr>
            <a:r>
              <a:rPr sz="1200" b="0" i="0" u="none" strike="noStrike">
                <a:solidFill>
                  <a:srgbClr val="1B2A27"/>
                </a:solidFill>
                <a:latin typeface="+mn-lt"/>
              </a:rPr>
              <a:t>48 hand-labelled hard posts (%)</a:t>
            </a:r>
          </a:p>
        </c:rich>
      </c:tx>
      <c:layout/>
      <c:overlay val="0"/>
    </c:title>
    <c:autoTitleDeleted val="0"/>
    <c:plotArea>
      <c:layout/>
      <c:barChart>
        <c:barDir val="col"/>
        <c:grouping val="clustered"/>
        <c:varyColors val="0"/>
        <c:ser>
          <c:idx val="0"/>
          <c:order val="0"/>
          <c:tx>
            <c:strRef>
              <c:f>Sheet1!$B$1</c:f>
              <c:strCache>
                <c:ptCount val="1"/>
                <c:pt idx="0">
                  <c:v>Keyword baseline</c:v>
                </c:pt>
              </c:strCache>
            </c:strRef>
          </c:tx>
          <c:spPr>
            <a:solidFill>
              <a:srgbClr val="A9C7BA"/>
            </a:solidFill>
            <a:effectLst/>
          </c:spPr>
          <c:invertIfNegative val="0"/>
          <c:dLbls>
            <c:numFmt formatCode="#,##0" sourceLinked="0"/>
            <c:txPr>
              <a:bodyPr/>
              <a:lstStyle/>
              <a:p>
                <a:pPr>
                  <a:defRPr b="0" i="0" strike="noStrike" sz="1000" u="none">
                    <a:solidFill>
                      <a:srgbClr val="1B2A27"/>
                    </a:solidFill>
                    <a:latin typeface="+mn-lt"/>
                  </a:defRPr>
                </a:pPr>
              </a:p>
            </c:txPr>
            <c:showLegendKey val="0"/>
            <c:showVal val="1"/>
            <c:showCatName val="0"/>
            <c:showSerName val="0"/>
            <c:showPercent val="0"/>
            <c:showBubbleSize val="0"/>
            <c:showLeaderLines val="0"/>
          </c:dLbls>
          <c:cat>
            <c:multiLvlStrRef>
              <c:f>Sheet1!$A$2:$A$4</c:f>
              <c:multiLvlStrCache>
                <c:ptCount val="3"/>
                <c:lvl>
                  <c:pt idx="0">
                    <c:v>Fully correct</c:v>
                  </c:pt>
                  <c:pt idx="1">
                    <c:v>Precision</c:v>
                  </c:pt>
                  <c:pt idx="2">
                    <c:v>Recall</c:v>
                  </c:pt>
                </c:lvl>
              </c:multiLvlStrCache>
            </c:multiLvlStrRef>
          </c:cat>
          <c:val>
            <c:numRef>
              <c:f>Sheet1!$B$2:$B$4</c:f>
              <c:numCache>
                <c:formatCode>General</c:formatCode>
                <c:ptCount val="3"/>
                <c:pt idx="0">
                  <c:v>75</c:v>
                </c:pt>
                <c:pt idx="1">
                  <c:v>86</c:v>
                </c:pt>
                <c:pt idx="2">
                  <c:v>77</c:v>
                </c:pt>
              </c:numCache>
            </c:numRef>
          </c:val>
        </c:ser>
        <c:ser>
          <c:idx val="1"/>
          <c:order val="1"/>
          <c:tx>
            <c:strRef>
              <c:f>Sheet1!$C$1</c:f>
              <c:strCache>
                <c:ptCount val="1"/>
                <c:pt idx="0">
                  <c:v>LLM (gpt-oss-120b)</c:v>
                </c:pt>
              </c:strCache>
            </c:strRef>
          </c:tx>
          <c:spPr>
            <a:solidFill>
              <a:srgbClr val="1F9D61"/>
            </a:solidFill>
            <a:effectLst/>
          </c:spPr>
          <c:invertIfNegative val="0"/>
          <c:dLbls>
            <c:numFmt formatCode="#,##0" sourceLinked="0"/>
            <c:txPr>
              <a:bodyPr/>
              <a:lstStyle/>
              <a:p>
                <a:pPr>
                  <a:defRPr b="0" i="0" strike="noStrike" sz="1000" u="none">
                    <a:solidFill>
                      <a:srgbClr val="1B2A27"/>
                    </a:solidFill>
                    <a:latin typeface="+mn-lt"/>
                  </a:defRPr>
                </a:pPr>
              </a:p>
            </c:txPr>
            <c:showLegendKey val="0"/>
            <c:showVal val="1"/>
            <c:showCatName val="0"/>
            <c:showSerName val="0"/>
            <c:showPercent val="0"/>
            <c:showBubbleSize val="0"/>
            <c:showLeaderLines val="0"/>
          </c:dLbls>
          <c:cat>
            <c:multiLvlStrRef>
              <c:f>Sheet1!$A$2:$A$4</c:f>
              <c:multiLvlStrCache>
                <c:ptCount val="3"/>
                <c:lvl>
                  <c:pt idx="0">
                    <c:v>Fully correct</c:v>
                  </c:pt>
                  <c:pt idx="1">
                    <c:v>Precision</c:v>
                  </c:pt>
                  <c:pt idx="2">
                    <c:v>Recall</c:v>
                  </c:pt>
                </c:lvl>
              </c:multiLvlStrCache>
            </c:multiLvlStrRef>
          </c:cat>
          <c:val>
            <c:numRef>
              <c:f>Sheet1!$C$2:$C$4</c:f>
              <c:numCache>
                <c:formatCode>General</c:formatCode>
                <c:ptCount val="3"/>
                <c:pt idx="0">
                  <c:v>96</c:v>
                </c:pt>
                <c:pt idx="1">
                  <c:v>100</c:v>
                </c:pt>
                <c:pt idx="2">
                  <c:v>97</c:v>
                </c:pt>
              </c:numCache>
            </c:numRef>
          </c:val>
        </c:ser>
        <c:dLbls>
          <c:numFmt formatCode="#,##0" sourceLinked="0"/>
          <c:txPr>
            <a:bodyPr/>
            <a:lstStyle/>
            <a:p>
              <a:pPr>
                <a:defRPr b="0" i="0" strike="noStrike" sz="1000" u="none">
                  <a:solidFill>
                    <a:srgbClr val="1B2A2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D77"/>
                </a:solidFill>
                <a:latin typeface="+mn-lt"/>
              </a:defRPr>
            </a:pPr>
            <a:endParaRPr lang="en-US"/>
          </a:p>
        </c:txPr>
        <c:crossAx val="2094734552"/>
        <c:crosses val="autoZero"/>
        <c:auto val="1"/>
        <c:lblAlgn val="ctr"/>
        <c:noMultiLvlLbl val="1"/>
      </c:catAx>
      <c:valAx>
        <c:axId val="2094734552"/>
        <c:scaling>
          <c:orientation val="minMax"/>
          <c:max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7D7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Rie Ian. Today I'll walk through Tally, a system that keeps an honest, timestamped track record of stock opinions posted online and works out whose calls are actually worth listening to. I'll cover why I built it, the happy path through the code, the system design decisions, how I validated it, then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your personal motivation. Suggested: double degree in Business and CS; I'm most interested where they meet, and finance is the clearest example, because data and engineering directly drive decisions. Keep it to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Aegis answered: given a portfolio, how risky is it? That left the harder question: what should go in it in the first place? That's where Tally comes in. Note the link: Tally's Signals page computes historical VaR and CVaR for the portfolio its signals imply, so the two projects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prediction mostly fails, but opinions are everywhere and nobody keeps an honest scoreboard. People delete bad calls, remember good ones, and luck looks like skill. So instead of predicting prices, Tally predicts who to listen to: it records every call with our own timestamp, checks it against the market, and separates skill from luck statistically. This is the core idea behind alpha capture, which is what TOPS does at Marshall Wace.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program on one slide. Each of the next seven slides is one step, with the function that does it. Collect posts from sources; filter out chatter before paying for an LLM call; the LLM extracts a structured prediction; we validate it; we mark it against the market; we score each source; and we present the leaderboard and live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plug in through one abstract class with a fetch method. Reddit and Substack are subclasses of a generic RSS source because they ARE RSS feeds with a known URL pattern, so they inherit all the parsing. StockTwits and the Reddit JSON API implement Source directly because they speak JSON. When Reddit started returning 403 to anonymous API calls, I swapped to their RSS feeds and nothing else in the system changed. That's the open/closed principle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spending an LLM call, a cheap keyword check asks: does this post mention a stock at all? On real r/ValueInvesting data it dropped 7 of 10. The trade-off: it missed a Tootsie Roll post because TR wasn't in my symbol list, so a pre-filter trades recall for cost. Posts are stored with the time WE received them, not the author's claim. Deduplication is a database unique constraint with insert-on-conflict-do-nothing, not an if-exists check, which would race. And the queue job is inserted in the same transaction as the post, so you can't get one without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turns a post into a structured prediction: ticker, direction, horizon and its own confidence. The prompt encodes domain rules that naive keyword matching gets wrong: buying puts is bearish, selling puts is bullish; questions, sarcasm and reported opinions aren't the author's own ideas. The client layer is provider-agnostic. When Groq retired the model I was using mid-project, switching was a config change. Calls are rate-limited for the free tier and cached, so a retry doesn't cost another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treat the LLM's answer like user input. It's validated against a schema. The ticker has to exist: it's checked against a symbol list, then company-name aliases, then whether Yahoo has price history for it. Low confidence goes to a review queue. And on real Reddit data the LLM called a clearly bearish 'HOOD is overvalued' post 'not an idea', so I added a second opinion: if the cheap keyword checker disagrees, a human decides. Two different kinds of checker catch more errors than either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point-in-time correctness matters. The entry price is the first market open after we received the idea, in the stock's own timezone. A post at 9pm Singapore time is after the SGX open but before the New York open, so a US idea enters that night and an SGX idea the next morning. I score excess return against a benchmark, so a long position in a rising market only counts if it beat the market. Missing data is flagged, never dropped, because dropping it would quietly inflate scores. It's a pure function, so it's heavily unit-tested.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Someone 3-for-3 has a 100% hit rate, but that happens 1 time in 8 by chance. Empirical Bayes fixes this: each contributor's average is pulled toward zero by an amount that depends on how many ideas they've made. With few ideas, the estimate stays near zero; with many, it approaches their real average. The two variances aren't hand-picked; they're estimated from the population. The prior is centred on zero on purpose: skill has to be demonstrated, not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views of the same data. Ideas is the trade log. The leaderboard summarises closed ideas into a skill estimate per source. Signals takes today's open ideas and weights each contributor's vote by how confident we are their skill is real, so unproven accounts count for nothing. Then it measures the risk of acting on those signals with historical VaR, which ties back to Aegis.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example tying the steps together. Monday 9pm Singapore time, someone posts that they bought TSLA puts. Seconds later the LLM extracts TSLA, short, default 20 trading days. The entry is that night's New York open, the first price anyone could actually trade at. Four weeks later the horizon ends: TSLA fell 8% while the S&amp;P rose 2%, so as a short that's +10% excess. That closed idea is added to the author's record, and their skill estimate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system-design pieces Tally relies on. The database persists everything, and the idea log is append-only, enforced by a database trigger, so history can't be rewritten. The queue decouples the fast API from the slow, rate-limited LLM. The cache avoids re-downloading prices and re-asking the LLM. Each has a cost, and I'll go deeper on the queue next because that's where the interesting trade-offs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queue exists because the LLM is slow, limited and unreliable. Jobs are claimed with leases: if a worker crashes, its lease expires and another worker picks the job up. That means a job can run twice, so the handler is idempotent. I built Postgres and Redis Streams versions behind one interface and benchmarked them. Redis wins on raw speed: 9x faster enqueue, sub-millisecond latency, because Postgres polls. In the crash test every job still completed, and every crashed job ran twice, which is at-least-once delivery shown directly. I still chose Postgres: enqueue happens in the same transaction as saving the post, so there's no gap between the two, and at ~6 LLM calls a minute the queue is never the bottleneck. I'd switch to Redis or add LISTEN/NOTIFY if throughput needs grew.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is the source of truth. The idea log is append-only, enforced in the database itself, so no bug or person can quietly edit history. Mistakes get corrected by adding records, not editing them. Indexes: unique constraints make ingestion idempotent, and a partial index on only live jobs keeps the queue's claim query fast however many finished jobs accumulate. The cache: Yahoo prices are cached in Postgres. One subtle point: adjusted prices are rewritten after every dividend, so a refresh re-downloads the whole range instead of just appending, otherwise returns would be corrupted.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didn't assume the LLM works, I measured it. 48 hand-labelled posts covering the cases that break naive extraction. The keyword baseline gets 75% fully right; the LLM gets 96%. Two honest caveats: the first run counted a provider outage as a wrong answer, which I fixed by retrying transient errors. And one 'miss' was arguably the model being right; I deliberately didn't change the label after seeing the output. I'd also say the set was written alongside the prompt, so a held-out set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simulated data? Real ideas take weeks to close, and more importantly nobody knows a real person's true skill, so you can't check a skill estimator on real people. So I planted it. Each persona is right with a fixed probability. The simulator deliberately looks at what really happened to make that true, while the normal scoring job runs without knowing any of this. Then we check whether it recovers the planted ordering, and whether it refuses to be fooled by the lucky persona with three perfect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two numbers from your own run of python -m tally simulate --report-only on real prices. The lucky persona should drop from near the top of a raw ranking to the middle once shrunk, and the shrunk ranking should correlate better with the planted truth. The simulation also caught a genuine bug in my first estimator. Why not old posts? Four reasons: posts can be edited after the fact, bad calls get deleted so you'd only see survivors, you still wouldn't know anyone's true skill, and API access and LLM cost make bulk backfill impractical. A careful backfill with edit detection is on the future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about 5 minutes. 1) Submit tab: paste the sarcastic Intel post, which comes back as no idea, then 'Grabbed some TSLA puts', which comes back SHORT. That's the LLM live. 2) System, Sources: preview r/ValueInvesting, which is free, showing keep/drop; ingest the kept posts. 3) Review: the HOOD post where the LLM and keyword check disagreed; approve it and point out it's priced from approval time to stop hindsight. 4) Leaderboard: sort by raw mean, then by skill estimate, and watch sim_lucky_streak drop. 5) Ideas and Signals: entry vs benchmark, open vs closed, skill-weighted signals and VaR. Before presenting: open /api/health to wake Render, run scoring, and keep the local version as a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on real data taught me more than the happy path. The LLM provider retired my model, so model choice is configuration and there's a check command. Reddit locked its API, and the adapter design made the switch trivial. The LLM was too strict on a real bearish post, which led to the second-opinion design. And a parsing bug produced a 252-day horizon. Because ideas are append-only I couldn't just edit it, which is the point: the right fix is a correction record, like accounting, not rewriting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I'd take it next. Correction records so mistakes are fixed without editing history. StockTwits authors label their own posts bullish or bearish, which is a free, large labelled set for evaluating the LLM. Better scoring: risk-adjust returns, weight recent skill more, and use sector benchmarks. A careful historical backfill with edit detection. Scale-out work: a shared rate limiter so multiple instances don't exceed the LLM quota, and LISTEN/NOTIFY to remove queue polling latency. And official API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line: score the source, not the stock. Then hand over to the code walkthrough. Have the repo open in your editor at backend/tally/sources/base.py, which is where the happy path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B2A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r>
              <a:rPr lang="en-US" sz="4800" b="1" dirty="0">
                <a:solidFill>
                  <a:schemeClr val="bg1"/>
                </a:solidFill>
              </a:rPr>
              <a:t>Title</a:t>
            </a:r>
            <a:endParaRPr lang="en-US" sz="4800" dirty="0"/>
          </a:p>
        </p:txBody>
      </p:sp>
      <p:sp>
        <p:nvSpPr>
          <p:cNvPr id="3" name="Text 0"/>
          <p:cNvSpPr/>
          <p:nvPr>
            <p:ph idx="101" type="body" hasCustomPrompt="1"/>
          </p:nvPr>
        </p:nvSpPr>
        <p:spPr>
          <a:xfrm>
            <a:off x="548640" y="2514600"/>
            <a:ext cx="8046720" cy="118872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r>
              <a:rPr lang="en-US" sz="2000" dirty="0">
                <a:solidFill>
                  <a:schemeClr val="accent5"/>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r>
              <a:rPr lang="en-US" sz="3000" b="1" dirty="0">
                <a:solidFill>
                  <a:schemeClr val="tx1"/>
                </a:solidFill>
              </a:rPr>
              <a:t>Title</a:t>
            </a:r>
            <a:endParaRPr lang="en-US" sz="3000" dirty="0"/>
          </a:p>
        </p:txBody>
      </p:sp>
      <p:sp>
        <p:nvSpPr>
          <p:cNvPr id="3" name="Text 0"/>
          <p:cNvSpPr/>
          <p:nvPr/>
        </p:nvSpPr>
        <p:spPr>
          <a:xfrm>
            <a:off x="457200" y="4800600"/>
            <a:ext cx="3657600" cy="228600"/>
          </a:xfrm>
          <a:prstGeom prst="rect">
            <a:avLst/>
          </a:prstGeom>
          <a:noFill/>
          <a:ln/>
        </p:spPr>
        <p:txBody>
          <a:bodyPr wrap="square" rtlCol="0" anchor="ctr"/>
          <a:lstStyle/>
          <a:p>
            <a:pPr indent="0" marL="0">
              <a:buNone/>
            </a:pPr>
            <a:r>
              <a:rPr lang="en-US" sz="900" dirty="0">
                <a:solidFill>
                  <a:srgbClr val="6B7D77"/>
                </a:solidFill>
              </a:rPr>
              <a:t>Tally · Rie Ian Ong</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1B2A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r>
              <a:rPr lang="en-US" sz="3000" b="1" dirty="0">
                <a:solidFill>
                  <a:schemeClr val="bg1"/>
                </a:solidFill>
              </a:rPr>
              <a:t>Title</a:t>
            </a:r>
            <a:endParaRPr lang="en-US" sz="3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3.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3.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algn="l" indent="0" marL="0">
              <a:buNone/>
            </a:pPr>
            <a:r>
              <a:rPr lang="en-US" sz="4800" b="1" dirty="0">
                <a:solidFill>
                  <a:schemeClr val="bg1"/>
                </a:solidFill>
              </a:rPr>
              <a:t>Tally</a:t>
            </a:r>
            <a:endParaRPr lang="en-US" sz="4800" dirty="0"/>
          </a:p>
        </p:txBody>
      </p:sp>
      <p:sp>
        <p:nvSpPr>
          <p:cNvPr id="3" name="Text 0"/>
          <p:cNvSpPr/>
          <p:nvPr>
            <p:ph idx="101" type="body" hasCustomPrompt="1"/>
          </p:nvPr>
        </p:nvSpPr>
        <p:spPr>
          <a:xfrm>
            <a:off x="548640" y="2514600"/>
            <a:ext cx="8046720" cy="1188720"/>
          </a:xfrm>
          <a:prstGeom prst="rect">
            <a:avLst/>
          </a:prstGeom>
          <a:noFill/>
          <a:ln/>
        </p:spPr>
        <p:txBody>
          <a:bodyPr wrap="square" lIns="0" tIns="0" rIns="0" bIns="0" rtlCol="0" anchor="t"/>
          <a:lstStyle/>
          <a:p>
            <a:pPr algn="l" indent="0" marL="0">
              <a:buNone/>
            </a:pPr>
            <a:r>
              <a:rPr lang="en-US" sz="2000" dirty="0">
                <a:solidFill>
                  <a:schemeClr val="accent5"/>
                </a:solidFill>
              </a:rPr>
              <a:t>Who actually makes good calls?</a:t>
            </a:r>
            <a:endParaRPr lang="en-US" sz="2000" dirty="0"/>
          </a:p>
          <a:p>
            <a:pPr algn="l" indent="0" marL="0">
              <a:buNone/>
            </a:pPr>
            <a:r>
              <a:rPr lang="en-US" sz="1400" dirty="0">
                <a:solidFill>
                  <a:schemeClr val="accent4"/>
                </a:solidFill>
              </a:rPr>
              <a:t>Rie Ian Ong · NTU Business + Computer Science</a:t>
            </a:r>
            <a:endParaRPr lang="en-US" sz="2000" dirty="0"/>
          </a:p>
        </p:txBody>
      </p:sp>
      <p:sp>
        <p:nvSpPr>
          <p:cNvPr id="4" name="Shape 2"/>
          <p:cNvSpPr/>
          <p:nvPr/>
        </p:nvSpPr>
        <p:spPr>
          <a:xfrm>
            <a:off x="6949440" y="640080"/>
            <a:ext cx="0" cy="640080"/>
          </a:xfrm>
          <a:prstGeom prst="line">
            <a:avLst/>
          </a:prstGeom>
          <a:noFill/>
          <a:ln w="50800">
            <a:solidFill>
              <a:srgbClr val="1F9D61"/>
            </a:solidFill>
            <a:prstDash val="solid"/>
          </a:ln>
        </p:spPr>
      </p:sp>
      <p:sp>
        <p:nvSpPr>
          <p:cNvPr id="5" name="Shape 3"/>
          <p:cNvSpPr/>
          <p:nvPr/>
        </p:nvSpPr>
        <p:spPr>
          <a:xfrm>
            <a:off x="7150608" y="640080"/>
            <a:ext cx="0" cy="640080"/>
          </a:xfrm>
          <a:prstGeom prst="line">
            <a:avLst/>
          </a:prstGeom>
          <a:noFill/>
          <a:ln w="50800">
            <a:solidFill>
              <a:srgbClr val="1F9D61"/>
            </a:solidFill>
            <a:prstDash val="solid"/>
          </a:ln>
        </p:spPr>
      </p:sp>
      <p:sp>
        <p:nvSpPr>
          <p:cNvPr id="6" name="Shape 4"/>
          <p:cNvSpPr/>
          <p:nvPr/>
        </p:nvSpPr>
        <p:spPr>
          <a:xfrm>
            <a:off x="7351776" y="640080"/>
            <a:ext cx="0" cy="640080"/>
          </a:xfrm>
          <a:prstGeom prst="line">
            <a:avLst/>
          </a:prstGeom>
          <a:noFill/>
          <a:ln w="50800">
            <a:solidFill>
              <a:srgbClr val="1F9D61"/>
            </a:solidFill>
            <a:prstDash val="solid"/>
          </a:ln>
        </p:spPr>
      </p:sp>
      <p:sp>
        <p:nvSpPr>
          <p:cNvPr id="7" name="Shape 5"/>
          <p:cNvSpPr/>
          <p:nvPr/>
        </p:nvSpPr>
        <p:spPr>
          <a:xfrm>
            <a:off x="7552944" y="640080"/>
            <a:ext cx="0" cy="640080"/>
          </a:xfrm>
          <a:prstGeom prst="line">
            <a:avLst/>
          </a:prstGeom>
          <a:noFill/>
          <a:ln w="50800">
            <a:solidFill>
              <a:srgbClr val="1F9D61"/>
            </a:solidFill>
            <a:prstDash val="solid"/>
          </a:ln>
        </p:spPr>
      </p:sp>
      <p:sp>
        <p:nvSpPr>
          <p:cNvPr id="8" name="Shape 6"/>
          <p:cNvSpPr/>
          <p:nvPr/>
        </p:nvSpPr>
        <p:spPr>
          <a:xfrm>
            <a:off x="6812280" y="1188720"/>
            <a:ext cx="868680" cy="-457200"/>
          </a:xfrm>
          <a:prstGeom prst="line">
            <a:avLst/>
          </a:prstGeom>
          <a:noFill/>
          <a:ln w="50800">
            <a:solidFill>
              <a:srgbClr val="1F9D6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Where business meets computer science</a:t>
            </a:r>
            <a:endParaRPr lang="en-US" sz="3000" dirty="0"/>
          </a:p>
        </p:txBody>
      </p:sp>
      <p:sp>
        <p:nvSpPr>
          <p:cNvPr id="3" name="Business card"/>
          <p:cNvSpPr/>
          <p:nvPr/>
        </p:nvSpPr>
        <p:spPr>
          <a:xfrm>
            <a:off x="457200" y="1188720"/>
            <a:ext cx="2606040" cy="2011680"/>
          </a:xfrm>
          <a:prstGeom prst="roundRect">
            <a:avLst>
              <a:gd name="adj" fmla="val 3636"/>
            </a:avLst>
          </a:prstGeom>
          <a:solidFill>
            <a:srgbClr val="EEF4F0"/>
          </a:solidFill>
          <a:ln w="12700">
            <a:solidFill>
              <a:srgbClr val="EEF4F0"/>
            </a:solidFill>
            <a:prstDash val="solid"/>
          </a:ln>
        </p:spPr>
      </p:sp>
      <p:sp>
        <p:nvSpPr>
          <p:cNvPr id="4" name="Shape 2"/>
          <p:cNvSpPr/>
          <p:nvPr/>
        </p:nvSpPr>
        <p:spPr>
          <a:xfrm>
            <a:off x="731520" y="1417320"/>
            <a:ext cx="502920" cy="5029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62279" y="1548079"/>
            <a:ext cx="241402" cy="241402"/>
          </a:xfrm>
          <a:prstGeom prst="rect">
            <a:avLst/>
          </a:prstGeom>
        </p:spPr>
      </p:pic>
      <p:sp>
        <p:nvSpPr>
          <p:cNvPr id="6" name="Text 3"/>
          <p:cNvSpPr txBox="1"/>
          <p:nvPr/>
        </p:nvSpPr>
        <p:spPr>
          <a:xfrm>
            <a:off x="731520" y="2057400"/>
            <a:ext cx="219456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Business</a:t>
            </a:r>
            <a:endParaRPr lang="en-US" sz="1800" dirty="0"/>
          </a:p>
        </p:txBody>
      </p:sp>
      <p:sp>
        <p:nvSpPr>
          <p:cNvPr id="7" name="Text 4"/>
          <p:cNvSpPr txBox="1"/>
          <p:nvPr/>
        </p:nvSpPr>
        <p:spPr>
          <a:xfrm>
            <a:off x="731520" y="2450592"/>
            <a:ext cx="2194560" cy="640080"/>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Markets, valuation, how capital is allocated</a:t>
            </a:r>
            <a:endParaRPr lang="en-US" sz="1300" dirty="0"/>
          </a:p>
        </p:txBody>
      </p:sp>
      <p:sp>
        <p:nvSpPr>
          <p:cNvPr id="8" name="Computer science card"/>
          <p:cNvSpPr/>
          <p:nvPr/>
        </p:nvSpPr>
        <p:spPr>
          <a:xfrm>
            <a:off x="3246120" y="1188720"/>
            <a:ext cx="2606040" cy="2011680"/>
          </a:xfrm>
          <a:prstGeom prst="roundRect">
            <a:avLst>
              <a:gd name="adj" fmla="val 3636"/>
            </a:avLst>
          </a:prstGeom>
          <a:solidFill>
            <a:srgbClr val="EEF4F0"/>
          </a:solidFill>
          <a:ln w="12700">
            <a:solidFill>
              <a:srgbClr val="EEF4F0"/>
            </a:solidFill>
            <a:prstDash val="solid"/>
          </a:ln>
        </p:spPr>
      </p:sp>
      <p:sp>
        <p:nvSpPr>
          <p:cNvPr id="9" name="Shape 6"/>
          <p:cNvSpPr/>
          <p:nvPr/>
        </p:nvSpPr>
        <p:spPr>
          <a:xfrm>
            <a:off x="3520440" y="1417320"/>
            <a:ext cx="502920" cy="50292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651199" y="1548079"/>
            <a:ext cx="241402" cy="241402"/>
          </a:xfrm>
          <a:prstGeom prst="rect">
            <a:avLst/>
          </a:prstGeom>
        </p:spPr>
      </p:pic>
      <p:sp>
        <p:nvSpPr>
          <p:cNvPr id="11" name="Text 7"/>
          <p:cNvSpPr txBox="1"/>
          <p:nvPr/>
        </p:nvSpPr>
        <p:spPr>
          <a:xfrm>
            <a:off x="3520440" y="2057400"/>
            <a:ext cx="219456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Computer science</a:t>
            </a:r>
            <a:endParaRPr lang="en-US" sz="1800" dirty="0"/>
          </a:p>
        </p:txBody>
      </p:sp>
      <p:sp>
        <p:nvSpPr>
          <p:cNvPr id="12" name="Text 8"/>
          <p:cNvSpPr txBox="1"/>
          <p:nvPr/>
        </p:nvSpPr>
        <p:spPr>
          <a:xfrm>
            <a:off x="3520440" y="2450592"/>
            <a:ext cx="2194560" cy="640080"/>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Systems, data, AI, building things that run</a:t>
            </a:r>
            <a:endParaRPr lang="en-US" sz="1300" dirty="0"/>
          </a:p>
        </p:txBody>
      </p:sp>
      <p:sp>
        <p:nvSpPr>
          <p:cNvPr id="13" name="finance card"/>
          <p:cNvSpPr/>
          <p:nvPr/>
        </p:nvSpPr>
        <p:spPr>
          <a:xfrm>
            <a:off x="6035040" y="1188720"/>
            <a:ext cx="2651760" cy="2011680"/>
          </a:xfrm>
          <a:prstGeom prst="roundRect">
            <a:avLst>
              <a:gd name="adj" fmla="val 3636"/>
            </a:avLst>
          </a:prstGeom>
          <a:solidFill>
            <a:srgbClr val="1B2A27"/>
          </a:solidFill>
          <a:ln w="12700">
            <a:solidFill>
              <a:srgbClr val="1B2A27"/>
            </a:solidFill>
            <a:prstDash val="solid"/>
          </a:ln>
        </p:spPr>
      </p:sp>
      <p:sp>
        <p:nvSpPr>
          <p:cNvPr id="14" name="Text 10"/>
          <p:cNvSpPr txBox="1"/>
          <p:nvPr/>
        </p:nvSpPr>
        <p:spPr>
          <a:xfrm>
            <a:off x="6309360" y="1463040"/>
            <a:ext cx="2194560" cy="4572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Finance</a:t>
            </a:r>
            <a:endParaRPr lang="en-US" sz="2400" dirty="0"/>
          </a:p>
        </p:txBody>
      </p:sp>
      <p:sp>
        <p:nvSpPr>
          <p:cNvPr id="15" name="Text 11"/>
          <p:cNvSpPr txBox="1"/>
          <p:nvPr/>
        </p:nvSpPr>
        <p:spPr>
          <a:xfrm>
            <a:off x="6309360" y="1965960"/>
            <a:ext cx="2194560" cy="109728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The intersection: a field where good engineering decides whether data turns into good decisions</a:t>
            </a:r>
            <a:endParaRPr lang="en-US" sz="1300" dirty="0"/>
          </a:p>
        </p:txBody>
      </p:sp>
      <p:sp>
        <p:nvSpPr>
          <p:cNvPr id="16" name="Text 12"/>
          <p:cNvSpPr txBox="1"/>
          <p:nvPr/>
        </p:nvSpPr>
        <p:spPr>
          <a:xfrm>
            <a:off x="457200" y="3520440"/>
            <a:ext cx="8229600" cy="365760"/>
          </a:xfrm>
          <a:prstGeom prst="rect">
            <a:avLst/>
          </a:prstGeom>
          <a:noFill/>
          <a:ln/>
        </p:spPr>
        <p:txBody>
          <a:bodyPr wrap="square" lIns="0" tIns="0" rIns="0" bIns="0" rtlCol="0" anchor="ctr"/>
          <a:lstStyle/>
          <a:p>
            <a:pPr indent="0" marL="0">
              <a:buNone/>
            </a:pPr>
            <a:r>
              <a:rPr lang="en-US" sz="1300" i="1" dirty="0">
                <a:solidFill>
                  <a:srgbClr val="6B7D77"/>
                </a:solidFill>
                <a:latin typeface="Calibri" pitchFamily="34" charset="0"/>
                <a:ea typeface="Calibri" pitchFamily="34" charset="-122"/>
                <a:cs typeface="Calibri" pitchFamily="34" charset="-120"/>
              </a:rPr>
              <a:t>[Add your own story here: what first drew you to markets]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From Aegis to Tally</a:t>
            </a:r>
            <a:endParaRPr lang="en-US" sz="3000" dirty="0"/>
          </a:p>
        </p:txBody>
      </p:sp>
      <p:sp>
        <p:nvSpPr>
          <p:cNvPr id="3" name="Aegis card"/>
          <p:cNvSpPr/>
          <p:nvPr/>
        </p:nvSpPr>
        <p:spPr>
          <a:xfrm>
            <a:off x="457200" y="1143000"/>
            <a:ext cx="3657600" cy="2651760"/>
          </a:xfrm>
          <a:prstGeom prst="roundRect">
            <a:avLst>
              <a:gd name="adj" fmla="val 2759"/>
            </a:avLst>
          </a:prstGeom>
          <a:solidFill>
            <a:srgbClr val="EEF4F0"/>
          </a:solidFill>
          <a:ln w="12700">
            <a:solidFill>
              <a:srgbClr val="EEF4F0"/>
            </a:solidFill>
            <a:prstDash val="solid"/>
          </a:ln>
        </p:spPr>
      </p:sp>
      <p:sp>
        <p:nvSpPr>
          <p:cNvPr id="4" name="Text 2"/>
          <p:cNvSpPr txBox="1"/>
          <p:nvPr/>
        </p:nvSpPr>
        <p:spPr>
          <a:xfrm>
            <a:off x="731520" y="1325880"/>
            <a:ext cx="3200400" cy="274320"/>
          </a:xfrm>
          <a:prstGeom prst="rect">
            <a:avLst/>
          </a:prstGeom>
          <a:noFill/>
          <a:ln/>
        </p:spPr>
        <p:txBody>
          <a:bodyPr wrap="square" lIns="0" tIns="0" rIns="0" bIns="0" rtlCol="0" anchor="ctr"/>
          <a:lstStyle/>
          <a:p>
            <a:pPr indent="0" marL="0">
              <a:buNone/>
            </a:pPr>
            <a:r>
              <a:rPr lang="en-US" sz="1100" b="1" spc="100" kern="0" dirty="0">
                <a:solidFill>
                  <a:schemeClr val="accent4"/>
                </a:solidFill>
                <a:latin typeface="Calibri" pitchFamily="34" charset="0"/>
                <a:ea typeface="Calibri" pitchFamily="34" charset="-122"/>
                <a:cs typeface="Calibri" pitchFamily="34" charset="-120"/>
              </a:rPr>
              <a:t>AEGIS · built before</a:t>
            </a:r>
            <a:endParaRPr lang="en-US" sz="1100" dirty="0"/>
          </a:p>
        </p:txBody>
      </p:sp>
      <p:sp>
        <p:nvSpPr>
          <p:cNvPr id="5" name="Text 3"/>
          <p:cNvSpPr txBox="1"/>
          <p:nvPr/>
        </p:nvSpPr>
        <p:spPr>
          <a:xfrm>
            <a:off x="731520" y="1645920"/>
            <a:ext cx="3200400"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“How risky is my portfolio?”</a:t>
            </a:r>
            <a:endParaRPr lang="en-US" sz="2000" dirty="0"/>
          </a:p>
        </p:txBody>
      </p:sp>
      <p:sp>
        <p:nvSpPr>
          <p:cNvPr id="6" name="Text 4"/>
          <p:cNvSpPr txBox="1"/>
          <p:nvPr/>
        </p:nvSpPr>
        <p:spPr>
          <a:xfrm>
            <a:off x="731520" y="2377440"/>
            <a:ext cx="3200400" cy="128016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Monte Carlo simulation, VaR / CVaR</a:t>
            </a:r>
            <a:endParaRPr lang="en-US" sz="1300" dirty="0"/>
          </a:p>
          <a:p>
            <a:pPr marL="177800" indent="-177800">
              <a:spcAft>
                <a:spcPts val="800"/>
              </a:spcAft>
              <a:buSzPct val="100000"/>
              <a:buChar char="•"/>
            </a:pPr>
            <a:r>
              <a:rPr lang="en-US" sz="1300" dirty="0">
                <a:solidFill>
                  <a:schemeClr val="tx1"/>
                </a:solidFill>
              </a:rPr>
              <a:t>Black-Scholes pricing and the Greeks</a:t>
            </a:r>
            <a:endParaRPr lang="en-US" sz="1300" dirty="0"/>
          </a:p>
          <a:p>
            <a:pPr marL="177800" indent="-177800">
              <a:spcAft>
                <a:spcPts val="800"/>
              </a:spcAft>
              <a:buSzPct val="100000"/>
              <a:buChar char="•"/>
            </a:pPr>
            <a:r>
              <a:rPr lang="en-US" sz="1300" dirty="0">
                <a:solidFill>
                  <a:schemeClr val="tx1"/>
                </a:solidFill>
              </a:rPr>
              <a:t>Visualises what you already hold</a:t>
            </a:r>
            <a:endParaRPr lang="en-US" sz="1300" dirty="0"/>
          </a:p>
        </p:txBody>
      </p:sp>
      <p:pic>
        <p:nvPicPr>
          <p:cNvPr id="7" name="Image 0" descr="preencoded.png">    </p:cNvPr>
          <p:cNvPicPr>
            <a:picLocks noChangeAspect="1"/>
          </p:cNvPicPr>
          <p:nvPr/>
        </p:nvPicPr>
        <p:blipFill>
          <a:blip r:embed="rId1"/>
          <a:stretch>
            <a:fillRect/>
          </a:stretch>
        </p:blipFill>
        <p:spPr>
          <a:xfrm>
            <a:off x="4297680" y="2240280"/>
            <a:ext cx="457200" cy="457200"/>
          </a:xfrm>
          <a:prstGeom prst="rect">
            <a:avLst/>
          </a:prstGeom>
        </p:spPr>
      </p:pic>
      <p:sp>
        <p:nvSpPr>
          <p:cNvPr id="8" name="Tally card"/>
          <p:cNvSpPr/>
          <p:nvPr/>
        </p:nvSpPr>
        <p:spPr>
          <a:xfrm>
            <a:off x="4937760" y="1143000"/>
            <a:ext cx="3749040" cy="2651760"/>
          </a:xfrm>
          <a:prstGeom prst="roundRect">
            <a:avLst>
              <a:gd name="adj" fmla="val 2759"/>
            </a:avLst>
          </a:prstGeom>
          <a:solidFill>
            <a:srgbClr val="1B2A27"/>
          </a:solidFill>
          <a:ln w="12700">
            <a:solidFill>
              <a:srgbClr val="1B2A27"/>
            </a:solidFill>
            <a:prstDash val="solid"/>
          </a:ln>
        </p:spPr>
      </p:sp>
      <p:sp>
        <p:nvSpPr>
          <p:cNvPr id="9" name="Text 6"/>
          <p:cNvSpPr txBox="1"/>
          <p:nvPr/>
        </p:nvSpPr>
        <p:spPr>
          <a:xfrm>
            <a:off x="5212080" y="1325880"/>
            <a:ext cx="3291840"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TALLY · this project</a:t>
            </a:r>
            <a:endParaRPr lang="en-US" sz="1100" dirty="0"/>
          </a:p>
        </p:txBody>
      </p:sp>
      <p:sp>
        <p:nvSpPr>
          <p:cNvPr id="10" name="Text 7"/>
          <p:cNvSpPr txBox="1"/>
          <p:nvPr/>
        </p:nvSpPr>
        <p:spPr>
          <a:xfrm>
            <a:off x="5212080" y="1645920"/>
            <a:ext cx="3291840" cy="9144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“But what should go into it, and who should I listen to?”</a:t>
            </a:r>
            <a:endParaRPr lang="en-US" sz="2000" dirty="0"/>
          </a:p>
        </p:txBody>
      </p:sp>
      <p:sp>
        <p:nvSpPr>
          <p:cNvPr id="11" name="Text 8"/>
          <p:cNvSpPr txBox="1"/>
          <p:nvPr/>
        </p:nvSpPr>
        <p:spPr>
          <a:xfrm>
            <a:off x="5212080" y="2651760"/>
            <a:ext cx="3291840" cy="100584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Aegis measures risk once you've decided. Tally works on the decision itself: whose ideas have actually been right.</a:t>
            </a:r>
            <a:endParaRPr lang="en-US" sz="1300" dirty="0"/>
          </a:p>
        </p:txBody>
      </p:sp>
      <p:sp>
        <p:nvSpPr>
          <p:cNvPr id="12" name="Text 9"/>
          <p:cNvSpPr txBox="1"/>
          <p:nvPr/>
        </p:nvSpPr>
        <p:spPr>
          <a:xfrm>
            <a:off x="457200" y="4023360"/>
            <a:ext cx="8229600" cy="320040"/>
          </a:xfrm>
          <a:prstGeom prst="rect">
            <a:avLst/>
          </a:prstGeom>
          <a:noFill/>
          <a:ln/>
        </p:spPr>
        <p:txBody>
          <a:bodyPr wrap="square" lIns="0" tIns="0" rIns="0" bIns="0" rtlCol="0" anchor="ctr"/>
          <a:lstStyle/>
          <a:p>
            <a:pPr indent="0" marL="0">
              <a:buNone/>
            </a:pPr>
            <a:r>
              <a:rPr lang="en-US" sz="1200" i="1" dirty="0">
                <a:solidFill>
                  <a:srgbClr val="6B7D77"/>
                </a:solidFill>
                <a:latin typeface="Calibri" pitchFamily="34" charset="0"/>
                <a:ea typeface="Calibri" pitchFamily="34" charset="-122"/>
                <a:cs typeface="Calibri" pitchFamily="34" charset="-120"/>
              </a:rPr>
              <a:t>Tally even reuses the Aegis idea: it reports the VaR/CVaR of following its own signals.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800" b="1" dirty="0">
                <a:solidFill>
                  <a:schemeClr val="tx1"/>
                </a:solidFill>
              </a:rPr>
              <a:t>Score the source, not the stock</a:t>
            </a:r>
            <a:endParaRPr lang="en-US" sz="3000" dirty="0"/>
          </a:p>
        </p:txBody>
      </p:sp>
      <p:sp>
        <p:nvSpPr>
          <p:cNvPr id="3" name="Shape 1"/>
          <p:cNvSpPr/>
          <p:nvPr/>
        </p:nvSpPr>
        <p:spPr>
          <a:xfrm>
            <a:off x="457200" y="1097280"/>
            <a:ext cx="502920" cy="50292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587959" y="1228039"/>
            <a:ext cx="241402" cy="241402"/>
          </a:xfrm>
          <a:prstGeom prst="rect">
            <a:avLst/>
          </a:prstGeom>
        </p:spPr>
      </p:pic>
      <p:sp>
        <p:nvSpPr>
          <p:cNvPr id="5" name="Text 2"/>
          <p:cNvSpPr txBox="1"/>
          <p:nvPr/>
        </p:nvSpPr>
        <p:spPr>
          <a:xfrm>
            <a:off x="1143000" y="1078992"/>
            <a:ext cx="3657600" cy="320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Everyone posts calls</a:t>
            </a:r>
            <a:endParaRPr lang="en-US" sz="1600" dirty="0"/>
          </a:p>
        </p:txBody>
      </p:sp>
      <p:sp>
        <p:nvSpPr>
          <p:cNvPr id="6" name="Text 3"/>
          <p:cNvSpPr txBox="1"/>
          <p:nvPr/>
        </p:nvSpPr>
        <p:spPr>
          <a:xfrm>
            <a:off x="1143000" y="1399032"/>
            <a:ext cx="3657600" cy="5029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Reddit, newsletters, social media: thousands of “buy NVDA” posts a day</a:t>
            </a:r>
            <a:endParaRPr lang="en-US" sz="1200" dirty="0"/>
          </a:p>
        </p:txBody>
      </p:sp>
      <p:sp>
        <p:nvSpPr>
          <p:cNvPr id="7" name="Shape 4"/>
          <p:cNvSpPr/>
          <p:nvPr/>
        </p:nvSpPr>
        <p:spPr>
          <a:xfrm>
            <a:off x="457200" y="2057400"/>
            <a:ext cx="502920" cy="502920"/>
          </a:xfrm>
          <a:prstGeom prst="ellipse">
            <a:avLst/>
          </a:prstGeom>
          <a:solidFill>
            <a:schemeClr val="accent1"/>
          </a:solidFill>
          <a:ln w="1270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587959" y="2188159"/>
            <a:ext cx="241402" cy="241402"/>
          </a:xfrm>
          <a:prstGeom prst="rect">
            <a:avLst/>
          </a:prstGeom>
        </p:spPr>
      </p:pic>
      <p:sp>
        <p:nvSpPr>
          <p:cNvPr id="9" name="Text 5"/>
          <p:cNvSpPr txBox="1"/>
          <p:nvPr/>
        </p:nvSpPr>
        <p:spPr>
          <a:xfrm>
            <a:off x="1143000" y="2039112"/>
            <a:ext cx="3657600" cy="320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Nobody keeps honest score</a:t>
            </a:r>
            <a:endParaRPr lang="en-US" sz="1600" dirty="0"/>
          </a:p>
        </p:txBody>
      </p:sp>
      <p:sp>
        <p:nvSpPr>
          <p:cNvPr id="10" name="Text 6"/>
          <p:cNvSpPr txBox="1"/>
          <p:nvPr/>
        </p:nvSpPr>
        <p:spPr>
          <a:xfrm>
            <a:off x="1143000" y="2359152"/>
            <a:ext cx="3657600" cy="5029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Bad calls get deleted or forgotten, and good ones get remembered, sometimes with hindsight</a:t>
            </a:r>
            <a:endParaRPr lang="en-US" sz="1200" dirty="0"/>
          </a:p>
        </p:txBody>
      </p:sp>
      <p:sp>
        <p:nvSpPr>
          <p:cNvPr id="11" name="Shape 7"/>
          <p:cNvSpPr/>
          <p:nvPr/>
        </p:nvSpPr>
        <p:spPr>
          <a:xfrm>
            <a:off x="457200" y="3017520"/>
            <a:ext cx="502920" cy="502920"/>
          </a:xfrm>
          <a:prstGeom prst="ellipse">
            <a:avLst/>
          </a:prstGeom>
          <a:solidFill>
            <a:schemeClr val="accent1"/>
          </a:solidFill>
          <a:ln w="1270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587959" y="3148279"/>
            <a:ext cx="241402" cy="241402"/>
          </a:xfrm>
          <a:prstGeom prst="rect">
            <a:avLst/>
          </a:prstGeom>
        </p:spPr>
      </p:pic>
      <p:sp>
        <p:nvSpPr>
          <p:cNvPr id="13" name="Text 8"/>
          <p:cNvSpPr txBox="1"/>
          <p:nvPr/>
        </p:nvSpPr>
        <p:spPr>
          <a:xfrm>
            <a:off x="1143000" y="2999232"/>
            <a:ext cx="3657600" cy="3200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Luck looks like skill</a:t>
            </a:r>
            <a:endParaRPr lang="en-US" sz="1600" dirty="0"/>
          </a:p>
        </p:txBody>
      </p:sp>
      <p:sp>
        <p:nvSpPr>
          <p:cNvPr id="14" name="Text 9"/>
          <p:cNvSpPr txBox="1"/>
          <p:nvPr/>
        </p:nvSpPr>
        <p:spPr>
          <a:xfrm>
            <a:off x="1143000" y="3319272"/>
            <a:ext cx="3657600" cy="5029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3 right calls in a row happens 1 time in 8 by pure chance</a:t>
            </a:r>
            <a:endParaRPr lang="en-US" sz="1200" dirty="0"/>
          </a:p>
        </p:txBody>
      </p:sp>
      <p:sp>
        <p:nvSpPr>
          <p:cNvPr id="15" name="idea card"/>
          <p:cNvSpPr/>
          <p:nvPr/>
        </p:nvSpPr>
        <p:spPr>
          <a:xfrm>
            <a:off x="5120640" y="1097280"/>
            <a:ext cx="3566160" cy="2743200"/>
          </a:xfrm>
          <a:prstGeom prst="roundRect">
            <a:avLst>
              <a:gd name="adj" fmla="val 2667"/>
            </a:avLst>
          </a:prstGeom>
          <a:solidFill>
            <a:srgbClr val="1B2A27"/>
          </a:solidFill>
          <a:ln w="12700">
            <a:solidFill>
              <a:srgbClr val="1B2A27"/>
            </a:solidFill>
            <a:prstDash val="solid"/>
          </a:ln>
        </p:spPr>
      </p:sp>
      <p:sp>
        <p:nvSpPr>
          <p:cNvPr id="16" name="Text 11"/>
          <p:cNvSpPr txBox="1"/>
          <p:nvPr/>
        </p:nvSpPr>
        <p:spPr>
          <a:xfrm>
            <a:off x="5394960" y="1280160"/>
            <a:ext cx="3017520" cy="274320"/>
          </a:xfrm>
          <a:prstGeom prst="rect">
            <a:avLst/>
          </a:prstGeom>
          <a:noFill/>
          <a:ln/>
        </p:spPr>
        <p:txBody>
          <a:bodyPr wrap="square" lIns="0" tIns="0" rIns="0" bIns="0" rtlCol="0" anchor="ctr"/>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THE IDEA</a:t>
            </a:r>
            <a:endParaRPr lang="en-US" sz="1100" dirty="0"/>
          </a:p>
        </p:txBody>
      </p:sp>
      <p:sp>
        <p:nvSpPr>
          <p:cNvPr id="17" name="Text 12"/>
          <p:cNvSpPr txBox="1"/>
          <p:nvPr/>
        </p:nvSpPr>
        <p:spPr>
          <a:xfrm>
            <a:off x="5394960" y="1600200"/>
            <a:ext cx="3017520" cy="118872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Predicting prices is noisy. Finding the people who are consistently right is a measurable problem.</a:t>
            </a:r>
            <a:endParaRPr lang="en-US" sz="1700" dirty="0"/>
          </a:p>
        </p:txBody>
      </p:sp>
      <p:sp>
        <p:nvSpPr>
          <p:cNvPr id="18" name="Text 13"/>
          <p:cNvSpPr txBox="1"/>
          <p:nvPr/>
        </p:nvSpPr>
        <p:spPr>
          <a:xfrm>
            <a:off x="5394960" y="2880360"/>
            <a:ext cx="3017520" cy="73152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Find the next Warren Buffett, then weigh their ideas by the skill they've demonstrated.</a:t>
            </a:r>
            <a:endParaRPr lang="en-US" sz="1300" dirty="0"/>
          </a:p>
        </p:txBody>
      </p:sp>
      <p:sp>
        <p:nvSpPr>
          <p:cNvPr id="19" name="Text 14"/>
          <p:cNvSpPr txBox="1"/>
          <p:nvPr/>
        </p:nvSpPr>
        <p:spPr>
          <a:xfrm>
            <a:off x="457200" y="4069080"/>
            <a:ext cx="8229600" cy="320040"/>
          </a:xfrm>
          <a:prstGeom prst="rect">
            <a:avLst/>
          </a:prstGeom>
          <a:noFill/>
          <a:ln/>
        </p:spPr>
        <p:txBody>
          <a:bodyPr wrap="square" lIns="0" tIns="0" rIns="0" bIns="0" rtlCol="0" anchor="ctr"/>
          <a:lstStyle/>
          <a:p>
            <a:pPr indent="0" marL="0">
              <a:buNone/>
            </a:pPr>
            <a:r>
              <a:rPr lang="en-US" sz="1200" i="1" dirty="0">
                <a:solidFill>
                  <a:srgbClr val="6B7D77"/>
                </a:solidFill>
                <a:latin typeface="Calibri" pitchFamily="34" charset="0"/>
                <a:ea typeface="Calibri" pitchFamily="34" charset="-122"/>
                <a:cs typeface="Calibri" pitchFamily="34" charset="-120"/>
              </a:rPr>
              <a:t>The same insight is behind alpha-capture systems such as Marshall Wace's TOPS.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The happy path: from a post to a leaderboard</a:t>
            </a:r>
            <a:endParaRPr lang="en-US" sz="3000" dirty="0"/>
          </a:p>
        </p:txBody>
      </p:sp>
      <p:sp>
        <p:nvSpPr>
          <p:cNvPr id="3" name="Shape 1"/>
          <p:cNvSpPr/>
          <p:nvPr/>
        </p:nvSpPr>
        <p:spPr>
          <a:xfrm>
            <a:off x="713232" y="1234440"/>
            <a:ext cx="566928" cy="566928"/>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860633" y="1381841"/>
            <a:ext cx="272125" cy="272125"/>
          </a:xfrm>
          <a:prstGeom prst="rect">
            <a:avLst/>
          </a:prstGeom>
        </p:spPr>
      </p:pic>
      <p:sp>
        <p:nvSpPr>
          <p:cNvPr id="5" name="Text 2"/>
          <p:cNvSpPr txBox="1"/>
          <p:nvPr/>
        </p:nvSpPr>
        <p:spPr>
          <a:xfrm>
            <a:off x="457200" y="1920240"/>
            <a:ext cx="1097280"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1. Collect</a:t>
            </a:r>
            <a:endParaRPr lang="en-US" sz="1400" dirty="0"/>
          </a:p>
        </p:txBody>
      </p:sp>
      <p:sp>
        <p:nvSpPr>
          <p:cNvPr id="6" name="Text 3"/>
          <p:cNvSpPr txBox="1"/>
          <p:nvPr/>
        </p:nvSpPr>
        <p:spPr>
          <a:xfrm>
            <a:off x="457200" y="2240280"/>
            <a:ext cx="1097280" cy="274320"/>
          </a:xfrm>
          <a:prstGeom prst="rect">
            <a:avLst/>
          </a:prstGeom>
          <a:noFill/>
          <a:ln/>
        </p:spPr>
        <p:txBody>
          <a:bodyPr wrap="square" lIns="0" tIns="0" rIns="0" bIns="0" rtlCol="0" anchor="ctr"/>
          <a:lstStyle/>
          <a:p>
            <a:pPr algn="ctr" indent="0" marL="0">
              <a:buNone/>
            </a:pPr>
            <a:r>
              <a:rPr lang="en-US" sz="1000" dirty="0">
                <a:solidFill>
                  <a:srgbClr val="6B7D77"/>
                </a:solidFill>
                <a:latin typeface="Courier New" pitchFamily="34" charset="0"/>
                <a:ea typeface="Courier New" pitchFamily="34" charset="-122"/>
                <a:cs typeface="Courier New" pitchFamily="34" charset="-120"/>
              </a:rPr>
              <a:t>sources/</a:t>
            </a:r>
            <a:endParaRPr lang="en-US" sz="1000" dirty="0"/>
          </a:p>
        </p:txBody>
      </p:sp>
      <p:sp>
        <p:nvSpPr>
          <p:cNvPr id="7" name="Shape 4"/>
          <p:cNvSpPr/>
          <p:nvPr/>
        </p:nvSpPr>
        <p:spPr>
          <a:xfrm>
            <a:off x="1325880" y="1517904"/>
            <a:ext cx="548640" cy="0"/>
          </a:xfrm>
          <a:prstGeom prst="line">
            <a:avLst/>
          </a:prstGeom>
          <a:noFill/>
          <a:ln w="19050">
            <a:solidFill>
              <a:srgbClr val="A9C7BA"/>
            </a:solidFill>
            <a:prstDash val="solid"/>
            <a:tailEnd type="triangle"/>
          </a:ln>
        </p:spPr>
      </p:sp>
      <p:sp>
        <p:nvSpPr>
          <p:cNvPr id="8" name="Shape 5"/>
          <p:cNvSpPr/>
          <p:nvPr/>
        </p:nvSpPr>
        <p:spPr>
          <a:xfrm>
            <a:off x="1901952" y="1234440"/>
            <a:ext cx="566928" cy="566928"/>
          </a:xfrm>
          <a:prstGeom prst="ellipse">
            <a:avLst/>
          </a:prstGeom>
          <a:solidFill>
            <a:schemeClr val="accent1"/>
          </a:solidFill>
          <a:ln w="12700">
            <a:solidFill>
              <a:schemeClr val="accent1"/>
            </a:solidFill>
            <a:prstDash val="solid"/>
          </a:ln>
        </p:spPr>
      </p:sp>
      <p:pic>
        <p:nvPicPr>
          <p:cNvPr id="9" name="Image 1" descr="preencoded.png">    </p:cNvPr>
          <p:cNvPicPr>
            <a:picLocks noChangeAspect="1"/>
          </p:cNvPicPr>
          <p:nvPr/>
        </p:nvPicPr>
        <p:blipFill>
          <a:blip r:embed="rId2"/>
          <a:stretch>
            <a:fillRect/>
          </a:stretch>
        </p:blipFill>
        <p:spPr>
          <a:xfrm>
            <a:off x="2049353" y="1381841"/>
            <a:ext cx="272125" cy="272125"/>
          </a:xfrm>
          <a:prstGeom prst="rect">
            <a:avLst/>
          </a:prstGeom>
        </p:spPr>
      </p:pic>
      <p:sp>
        <p:nvSpPr>
          <p:cNvPr id="10" name="Text 6"/>
          <p:cNvSpPr txBox="1"/>
          <p:nvPr/>
        </p:nvSpPr>
        <p:spPr>
          <a:xfrm>
            <a:off x="1645920" y="1920240"/>
            <a:ext cx="1097280"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2. Filter</a:t>
            </a:r>
            <a:endParaRPr lang="en-US" sz="1400" dirty="0"/>
          </a:p>
        </p:txBody>
      </p:sp>
      <p:sp>
        <p:nvSpPr>
          <p:cNvPr id="11" name="Text 7"/>
          <p:cNvSpPr txBox="1"/>
          <p:nvPr/>
        </p:nvSpPr>
        <p:spPr>
          <a:xfrm>
            <a:off x="1645920" y="2240280"/>
            <a:ext cx="1097280" cy="274320"/>
          </a:xfrm>
          <a:prstGeom prst="rect">
            <a:avLst/>
          </a:prstGeom>
          <a:noFill/>
          <a:ln/>
        </p:spPr>
        <p:txBody>
          <a:bodyPr wrap="square" lIns="0" tIns="0" rIns="0" bIns="0" rtlCol="0" anchor="ctr"/>
          <a:lstStyle/>
          <a:p>
            <a:pPr algn="ctr" indent="0" marL="0">
              <a:buNone/>
            </a:pPr>
            <a:r>
              <a:rPr lang="en-US" sz="1000" dirty="0">
                <a:solidFill>
                  <a:srgbClr val="6B7D77"/>
                </a:solidFill>
                <a:latin typeface="Courier New" pitchFamily="34" charset="0"/>
                <a:ea typeface="Courier New" pitchFamily="34" charset="-122"/>
                <a:cs typeface="Courier New" pitchFamily="34" charset="-120"/>
              </a:rPr>
              <a:t>ingestion/</a:t>
            </a:r>
            <a:endParaRPr lang="en-US" sz="1000" dirty="0"/>
          </a:p>
        </p:txBody>
      </p:sp>
      <p:sp>
        <p:nvSpPr>
          <p:cNvPr id="12" name="Shape 8"/>
          <p:cNvSpPr/>
          <p:nvPr/>
        </p:nvSpPr>
        <p:spPr>
          <a:xfrm>
            <a:off x="2514600" y="1517904"/>
            <a:ext cx="548640" cy="0"/>
          </a:xfrm>
          <a:prstGeom prst="line">
            <a:avLst/>
          </a:prstGeom>
          <a:noFill/>
          <a:ln w="19050">
            <a:solidFill>
              <a:srgbClr val="A9C7BA"/>
            </a:solidFill>
            <a:prstDash val="solid"/>
            <a:tailEnd type="triangle"/>
          </a:ln>
        </p:spPr>
      </p:sp>
      <p:sp>
        <p:nvSpPr>
          <p:cNvPr id="13" name="Shape 9"/>
          <p:cNvSpPr/>
          <p:nvPr/>
        </p:nvSpPr>
        <p:spPr>
          <a:xfrm>
            <a:off x="3090672" y="1234440"/>
            <a:ext cx="566928" cy="566928"/>
          </a:xfrm>
          <a:prstGeom prst="ellipse">
            <a:avLst/>
          </a:prstGeom>
          <a:solidFill>
            <a:schemeClr val="tx2"/>
          </a:solidFill>
          <a:ln w="12700">
            <a:solidFill>
              <a:schemeClr val="tx2"/>
            </a:solidFill>
            <a:prstDash val="solid"/>
          </a:ln>
        </p:spPr>
      </p:sp>
      <p:pic>
        <p:nvPicPr>
          <p:cNvPr id="14" name="Image 2" descr="preencoded.png">    </p:cNvPr>
          <p:cNvPicPr>
            <a:picLocks noChangeAspect="1"/>
          </p:cNvPicPr>
          <p:nvPr/>
        </p:nvPicPr>
        <p:blipFill>
          <a:blip r:embed="rId3"/>
          <a:stretch>
            <a:fillRect/>
          </a:stretch>
        </p:blipFill>
        <p:spPr>
          <a:xfrm>
            <a:off x="3238073" y="1381841"/>
            <a:ext cx="272125" cy="272125"/>
          </a:xfrm>
          <a:prstGeom prst="rect">
            <a:avLst/>
          </a:prstGeom>
        </p:spPr>
      </p:pic>
      <p:sp>
        <p:nvSpPr>
          <p:cNvPr id="15" name="Text 10"/>
          <p:cNvSpPr txBox="1"/>
          <p:nvPr/>
        </p:nvSpPr>
        <p:spPr>
          <a:xfrm>
            <a:off x="2834640" y="1920240"/>
            <a:ext cx="1097280"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3. Extract</a:t>
            </a:r>
            <a:endParaRPr lang="en-US" sz="1400" dirty="0"/>
          </a:p>
        </p:txBody>
      </p:sp>
      <p:sp>
        <p:nvSpPr>
          <p:cNvPr id="16" name="Text 11"/>
          <p:cNvSpPr txBox="1"/>
          <p:nvPr/>
        </p:nvSpPr>
        <p:spPr>
          <a:xfrm>
            <a:off x="2834640" y="2240280"/>
            <a:ext cx="1097280" cy="274320"/>
          </a:xfrm>
          <a:prstGeom prst="rect">
            <a:avLst/>
          </a:prstGeom>
          <a:noFill/>
          <a:ln/>
        </p:spPr>
        <p:txBody>
          <a:bodyPr wrap="square" lIns="0" tIns="0" rIns="0" bIns="0" rtlCol="0" anchor="ctr"/>
          <a:lstStyle/>
          <a:p>
            <a:pPr algn="ctr" indent="0" marL="0">
              <a:buNone/>
            </a:pPr>
            <a:r>
              <a:rPr lang="en-US" sz="1000" dirty="0">
                <a:solidFill>
                  <a:srgbClr val="6B7D77"/>
                </a:solidFill>
                <a:latin typeface="Courier New" pitchFamily="34" charset="0"/>
                <a:ea typeface="Courier New" pitchFamily="34" charset="-122"/>
                <a:cs typeface="Courier New" pitchFamily="34" charset="-120"/>
              </a:rPr>
              <a:t>LLM</a:t>
            </a:r>
            <a:endParaRPr lang="en-US" sz="1000" dirty="0"/>
          </a:p>
        </p:txBody>
      </p:sp>
      <p:sp>
        <p:nvSpPr>
          <p:cNvPr id="17" name="Shape 12"/>
          <p:cNvSpPr/>
          <p:nvPr/>
        </p:nvSpPr>
        <p:spPr>
          <a:xfrm>
            <a:off x="3703320" y="1517904"/>
            <a:ext cx="548640" cy="0"/>
          </a:xfrm>
          <a:prstGeom prst="line">
            <a:avLst/>
          </a:prstGeom>
          <a:noFill/>
          <a:ln w="19050">
            <a:solidFill>
              <a:srgbClr val="A9C7BA"/>
            </a:solidFill>
            <a:prstDash val="solid"/>
            <a:tailEnd type="triangle"/>
          </a:ln>
        </p:spPr>
      </p:sp>
      <p:sp>
        <p:nvSpPr>
          <p:cNvPr id="18" name="Shape 13"/>
          <p:cNvSpPr/>
          <p:nvPr/>
        </p:nvSpPr>
        <p:spPr>
          <a:xfrm>
            <a:off x="4279392" y="1234440"/>
            <a:ext cx="566928" cy="566928"/>
          </a:xfrm>
          <a:prstGeom prst="ellipse">
            <a:avLst/>
          </a:prstGeom>
          <a:solidFill>
            <a:schemeClr val="accent1"/>
          </a:solidFill>
          <a:ln w="12700">
            <a:solidFill>
              <a:schemeClr val="accent1"/>
            </a:solidFill>
            <a:prstDash val="solid"/>
          </a:ln>
        </p:spPr>
      </p:sp>
      <p:pic>
        <p:nvPicPr>
          <p:cNvPr id="19" name="Image 3" descr="preencoded.png">    </p:cNvPr>
          <p:cNvPicPr>
            <a:picLocks noChangeAspect="1"/>
          </p:cNvPicPr>
          <p:nvPr/>
        </p:nvPicPr>
        <p:blipFill>
          <a:blip r:embed="rId4"/>
          <a:stretch>
            <a:fillRect/>
          </a:stretch>
        </p:blipFill>
        <p:spPr>
          <a:xfrm>
            <a:off x="4426793" y="1381841"/>
            <a:ext cx="272125" cy="272125"/>
          </a:xfrm>
          <a:prstGeom prst="rect">
            <a:avLst/>
          </a:prstGeom>
        </p:spPr>
      </p:pic>
      <p:sp>
        <p:nvSpPr>
          <p:cNvPr id="20" name="Text 14"/>
          <p:cNvSpPr txBox="1"/>
          <p:nvPr/>
        </p:nvSpPr>
        <p:spPr>
          <a:xfrm>
            <a:off x="4023360" y="1920240"/>
            <a:ext cx="1097280"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4. Validate</a:t>
            </a:r>
            <a:endParaRPr lang="en-US" sz="1400" dirty="0"/>
          </a:p>
        </p:txBody>
      </p:sp>
      <p:sp>
        <p:nvSpPr>
          <p:cNvPr id="21" name="Text 15"/>
          <p:cNvSpPr txBox="1"/>
          <p:nvPr/>
        </p:nvSpPr>
        <p:spPr>
          <a:xfrm>
            <a:off x="4023360" y="2240280"/>
            <a:ext cx="1097280" cy="274320"/>
          </a:xfrm>
          <a:prstGeom prst="rect">
            <a:avLst/>
          </a:prstGeom>
          <a:noFill/>
          <a:ln/>
        </p:spPr>
        <p:txBody>
          <a:bodyPr wrap="square" lIns="0" tIns="0" rIns="0" bIns="0" rtlCol="0" anchor="ctr"/>
          <a:lstStyle/>
          <a:p>
            <a:pPr algn="ctr" indent="0" marL="0">
              <a:buNone/>
            </a:pPr>
            <a:r>
              <a:rPr lang="en-US" sz="1000" dirty="0">
                <a:solidFill>
                  <a:srgbClr val="6B7D77"/>
                </a:solidFill>
                <a:latin typeface="Courier New" pitchFamily="34" charset="0"/>
                <a:ea typeface="Courier New" pitchFamily="34" charset="-122"/>
                <a:cs typeface="Courier New" pitchFamily="34" charset="-120"/>
              </a:rPr>
              <a:t>pipeline.py</a:t>
            </a:r>
            <a:endParaRPr lang="en-US" sz="1000" dirty="0"/>
          </a:p>
        </p:txBody>
      </p:sp>
      <p:sp>
        <p:nvSpPr>
          <p:cNvPr id="22" name="Shape 16"/>
          <p:cNvSpPr/>
          <p:nvPr/>
        </p:nvSpPr>
        <p:spPr>
          <a:xfrm>
            <a:off x="4892040" y="1517904"/>
            <a:ext cx="548640" cy="0"/>
          </a:xfrm>
          <a:prstGeom prst="line">
            <a:avLst/>
          </a:prstGeom>
          <a:noFill/>
          <a:ln w="19050">
            <a:solidFill>
              <a:srgbClr val="A9C7BA"/>
            </a:solidFill>
            <a:prstDash val="solid"/>
            <a:tailEnd type="triangle"/>
          </a:ln>
        </p:spPr>
      </p:sp>
      <p:sp>
        <p:nvSpPr>
          <p:cNvPr id="23" name="Shape 17"/>
          <p:cNvSpPr/>
          <p:nvPr/>
        </p:nvSpPr>
        <p:spPr>
          <a:xfrm>
            <a:off x="5468112" y="1234440"/>
            <a:ext cx="566928" cy="566928"/>
          </a:xfrm>
          <a:prstGeom prst="ellipse">
            <a:avLst/>
          </a:prstGeom>
          <a:solidFill>
            <a:schemeClr val="accent1"/>
          </a:solidFill>
          <a:ln w="12700">
            <a:solidFill>
              <a:schemeClr val="accent1"/>
            </a:solidFill>
            <a:prstDash val="solid"/>
          </a:ln>
        </p:spPr>
      </p:sp>
      <p:pic>
        <p:nvPicPr>
          <p:cNvPr id="24" name="Image 4" descr="preencoded.png">    </p:cNvPr>
          <p:cNvPicPr>
            <a:picLocks noChangeAspect="1"/>
          </p:cNvPicPr>
          <p:nvPr/>
        </p:nvPicPr>
        <p:blipFill>
          <a:blip r:embed="rId5"/>
          <a:stretch>
            <a:fillRect/>
          </a:stretch>
        </p:blipFill>
        <p:spPr>
          <a:xfrm>
            <a:off x="5615513" y="1381841"/>
            <a:ext cx="272125" cy="272125"/>
          </a:xfrm>
          <a:prstGeom prst="rect">
            <a:avLst/>
          </a:prstGeom>
        </p:spPr>
      </p:pic>
      <p:sp>
        <p:nvSpPr>
          <p:cNvPr id="25" name="Text 18"/>
          <p:cNvSpPr txBox="1"/>
          <p:nvPr/>
        </p:nvSpPr>
        <p:spPr>
          <a:xfrm>
            <a:off x="5212080" y="1920240"/>
            <a:ext cx="1097280"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5. Mark</a:t>
            </a:r>
            <a:endParaRPr lang="en-US" sz="1400" dirty="0"/>
          </a:p>
        </p:txBody>
      </p:sp>
      <p:sp>
        <p:nvSpPr>
          <p:cNvPr id="26" name="Text 19"/>
          <p:cNvSpPr txBox="1"/>
          <p:nvPr/>
        </p:nvSpPr>
        <p:spPr>
          <a:xfrm>
            <a:off x="5212080" y="2240280"/>
            <a:ext cx="1097280" cy="274320"/>
          </a:xfrm>
          <a:prstGeom prst="rect">
            <a:avLst/>
          </a:prstGeom>
          <a:noFill/>
          <a:ln/>
        </p:spPr>
        <p:txBody>
          <a:bodyPr wrap="square" lIns="0" tIns="0" rIns="0" bIns="0" rtlCol="0" anchor="ctr"/>
          <a:lstStyle/>
          <a:p>
            <a:pPr algn="ctr" indent="0" marL="0">
              <a:buNone/>
            </a:pPr>
            <a:r>
              <a:rPr lang="en-US" sz="1000" dirty="0">
                <a:solidFill>
                  <a:srgbClr val="6B7D77"/>
                </a:solidFill>
                <a:latin typeface="Courier New" pitchFamily="34" charset="0"/>
                <a:ea typeface="Courier New" pitchFamily="34" charset="-122"/>
                <a:cs typeface="Courier New" pitchFamily="34" charset="-120"/>
              </a:rPr>
              <a:t>marking.py</a:t>
            </a:r>
            <a:endParaRPr lang="en-US" sz="1000" dirty="0"/>
          </a:p>
        </p:txBody>
      </p:sp>
      <p:sp>
        <p:nvSpPr>
          <p:cNvPr id="27" name="Shape 20"/>
          <p:cNvSpPr/>
          <p:nvPr/>
        </p:nvSpPr>
        <p:spPr>
          <a:xfrm>
            <a:off x="6080760" y="1517904"/>
            <a:ext cx="548640" cy="0"/>
          </a:xfrm>
          <a:prstGeom prst="line">
            <a:avLst/>
          </a:prstGeom>
          <a:noFill/>
          <a:ln w="19050">
            <a:solidFill>
              <a:srgbClr val="A9C7BA"/>
            </a:solidFill>
            <a:prstDash val="solid"/>
            <a:tailEnd type="triangle"/>
          </a:ln>
        </p:spPr>
      </p:sp>
      <p:sp>
        <p:nvSpPr>
          <p:cNvPr id="28" name="Shape 21"/>
          <p:cNvSpPr/>
          <p:nvPr/>
        </p:nvSpPr>
        <p:spPr>
          <a:xfrm>
            <a:off x="6656832" y="1234440"/>
            <a:ext cx="566928" cy="566928"/>
          </a:xfrm>
          <a:prstGeom prst="ellipse">
            <a:avLst/>
          </a:prstGeom>
          <a:solidFill>
            <a:schemeClr val="accent1"/>
          </a:solidFill>
          <a:ln w="12700">
            <a:solidFill>
              <a:schemeClr val="accent1"/>
            </a:solidFill>
            <a:prstDash val="solid"/>
          </a:ln>
        </p:spPr>
      </p:sp>
      <p:pic>
        <p:nvPicPr>
          <p:cNvPr id="29" name="Image 5" descr="preencoded.png">    </p:cNvPr>
          <p:cNvPicPr>
            <a:picLocks noChangeAspect="1"/>
          </p:cNvPicPr>
          <p:nvPr/>
        </p:nvPicPr>
        <p:blipFill>
          <a:blip r:embed="rId6"/>
          <a:stretch>
            <a:fillRect/>
          </a:stretch>
        </p:blipFill>
        <p:spPr>
          <a:xfrm>
            <a:off x="6804233" y="1381841"/>
            <a:ext cx="272125" cy="272125"/>
          </a:xfrm>
          <a:prstGeom prst="rect">
            <a:avLst/>
          </a:prstGeom>
        </p:spPr>
      </p:pic>
      <p:sp>
        <p:nvSpPr>
          <p:cNvPr id="30" name="Text 22"/>
          <p:cNvSpPr txBox="1"/>
          <p:nvPr/>
        </p:nvSpPr>
        <p:spPr>
          <a:xfrm>
            <a:off x="6400800" y="1920240"/>
            <a:ext cx="1097280"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6. Score</a:t>
            </a:r>
            <a:endParaRPr lang="en-US" sz="1400" dirty="0"/>
          </a:p>
        </p:txBody>
      </p:sp>
      <p:sp>
        <p:nvSpPr>
          <p:cNvPr id="31" name="Text 23"/>
          <p:cNvSpPr txBox="1"/>
          <p:nvPr/>
        </p:nvSpPr>
        <p:spPr>
          <a:xfrm>
            <a:off x="6400800" y="2240280"/>
            <a:ext cx="1097280" cy="274320"/>
          </a:xfrm>
          <a:prstGeom prst="rect">
            <a:avLst/>
          </a:prstGeom>
          <a:noFill/>
          <a:ln/>
        </p:spPr>
        <p:txBody>
          <a:bodyPr wrap="square" lIns="0" tIns="0" rIns="0" bIns="0" rtlCol="0" anchor="ctr"/>
          <a:lstStyle/>
          <a:p>
            <a:pPr algn="ctr" indent="0" marL="0">
              <a:buNone/>
            </a:pPr>
            <a:r>
              <a:rPr lang="en-US" sz="1000" dirty="0">
                <a:solidFill>
                  <a:srgbClr val="6B7D77"/>
                </a:solidFill>
                <a:latin typeface="Courier New" pitchFamily="34" charset="0"/>
                <a:ea typeface="Courier New" pitchFamily="34" charset="-122"/>
                <a:cs typeface="Courier New" pitchFamily="34" charset="-120"/>
              </a:rPr>
              <a:t>skill.py</a:t>
            </a:r>
            <a:endParaRPr lang="en-US" sz="1000" dirty="0"/>
          </a:p>
        </p:txBody>
      </p:sp>
      <p:sp>
        <p:nvSpPr>
          <p:cNvPr id="32" name="Shape 24"/>
          <p:cNvSpPr/>
          <p:nvPr/>
        </p:nvSpPr>
        <p:spPr>
          <a:xfrm>
            <a:off x="7269480" y="1517904"/>
            <a:ext cx="548640" cy="0"/>
          </a:xfrm>
          <a:prstGeom prst="line">
            <a:avLst/>
          </a:prstGeom>
          <a:noFill/>
          <a:ln w="19050">
            <a:solidFill>
              <a:srgbClr val="A9C7BA"/>
            </a:solidFill>
            <a:prstDash val="solid"/>
            <a:tailEnd type="triangle"/>
          </a:ln>
        </p:spPr>
      </p:sp>
      <p:sp>
        <p:nvSpPr>
          <p:cNvPr id="33" name="Shape 25"/>
          <p:cNvSpPr/>
          <p:nvPr/>
        </p:nvSpPr>
        <p:spPr>
          <a:xfrm>
            <a:off x="7845552" y="1234440"/>
            <a:ext cx="566928" cy="566928"/>
          </a:xfrm>
          <a:prstGeom prst="ellipse">
            <a:avLst/>
          </a:prstGeom>
          <a:solidFill>
            <a:schemeClr val="accent1"/>
          </a:solidFill>
          <a:ln w="12700">
            <a:solidFill>
              <a:schemeClr val="accent1"/>
            </a:solidFill>
            <a:prstDash val="solid"/>
          </a:ln>
        </p:spPr>
      </p:sp>
      <p:pic>
        <p:nvPicPr>
          <p:cNvPr id="34" name="Image 6" descr="preencoded.png">    </p:cNvPr>
          <p:cNvPicPr>
            <a:picLocks noChangeAspect="1"/>
          </p:cNvPicPr>
          <p:nvPr/>
        </p:nvPicPr>
        <p:blipFill>
          <a:blip r:embed="rId7"/>
          <a:stretch>
            <a:fillRect/>
          </a:stretch>
        </p:blipFill>
        <p:spPr>
          <a:xfrm>
            <a:off x="7992953" y="1381841"/>
            <a:ext cx="272125" cy="272125"/>
          </a:xfrm>
          <a:prstGeom prst="rect">
            <a:avLst/>
          </a:prstGeom>
        </p:spPr>
      </p:pic>
      <p:sp>
        <p:nvSpPr>
          <p:cNvPr id="35" name="Text 26"/>
          <p:cNvSpPr txBox="1"/>
          <p:nvPr/>
        </p:nvSpPr>
        <p:spPr>
          <a:xfrm>
            <a:off x="7589520" y="1920240"/>
            <a:ext cx="1097280"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7. Present</a:t>
            </a:r>
            <a:endParaRPr lang="en-US" sz="1400" dirty="0"/>
          </a:p>
        </p:txBody>
      </p:sp>
      <p:sp>
        <p:nvSpPr>
          <p:cNvPr id="36" name="Text 27"/>
          <p:cNvSpPr txBox="1"/>
          <p:nvPr/>
        </p:nvSpPr>
        <p:spPr>
          <a:xfrm>
            <a:off x="7589520" y="2240280"/>
            <a:ext cx="1097280" cy="274320"/>
          </a:xfrm>
          <a:prstGeom prst="rect">
            <a:avLst/>
          </a:prstGeom>
          <a:noFill/>
          <a:ln/>
        </p:spPr>
        <p:txBody>
          <a:bodyPr wrap="square" lIns="0" tIns="0" rIns="0" bIns="0" rtlCol="0" anchor="ctr"/>
          <a:lstStyle/>
          <a:p>
            <a:pPr algn="ctr" indent="0" marL="0">
              <a:buNone/>
            </a:pPr>
            <a:r>
              <a:rPr lang="en-US" sz="1000" dirty="0">
                <a:solidFill>
                  <a:srgbClr val="6B7D77"/>
                </a:solidFill>
                <a:latin typeface="Courier New" pitchFamily="34" charset="0"/>
                <a:ea typeface="Courier New" pitchFamily="34" charset="-122"/>
                <a:cs typeface="Courier New" pitchFamily="34" charset="-120"/>
              </a:rPr>
              <a:t>api + UI</a:t>
            </a:r>
            <a:endParaRPr lang="en-US" sz="1000" dirty="0"/>
          </a:p>
        </p:txBody>
      </p:sp>
      <p:sp>
        <p:nvSpPr>
          <p:cNvPr id="37" name="flow summary"/>
          <p:cNvSpPr/>
          <p:nvPr/>
        </p:nvSpPr>
        <p:spPr>
          <a:xfrm>
            <a:off x="457200" y="2834640"/>
            <a:ext cx="8229600" cy="1234440"/>
          </a:xfrm>
          <a:prstGeom prst="roundRect">
            <a:avLst>
              <a:gd name="adj" fmla="val 5926"/>
            </a:avLst>
          </a:prstGeom>
          <a:solidFill>
            <a:srgbClr val="EEF4F0"/>
          </a:solidFill>
          <a:ln w="12700">
            <a:solidFill>
              <a:srgbClr val="EEF4F0"/>
            </a:solidFill>
            <a:prstDash val="solid"/>
          </a:ln>
        </p:spPr>
      </p:sp>
      <p:sp>
        <p:nvSpPr>
          <p:cNvPr id="38" name="Text 29"/>
          <p:cNvSpPr txBox="1"/>
          <p:nvPr/>
        </p:nvSpPr>
        <p:spPr>
          <a:xfrm>
            <a:off x="685800" y="2971800"/>
            <a:ext cx="7772400" cy="9601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Pull opinions from Reddit and Substack  →  drop chatter cheaply  →  an LLM turns text into </a:t>
            </a:r>
            <a:pPr indent="0" marL="0">
              <a:buNone/>
            </a:pPr>
            <a:r>
              <a:rPr lang="en-US" sz="1400" b="1" dirty="0">
                <a:solidFill>
                  <a:schemeClr val="tx1"/>
                </a:solidFill>
                <a:latin typeface="Calibri" pitchFamily="34" charset="0"/>
                <a:ea typeface="Calibri" pitchFamily="34" charset="-122"/>
                <a:cs typeface="Calibri" pitchFamily="34" charset="-120"/>
              </a:rPr>
              <a:t>ticker · direction · horizon</a:t>
            </a:r>
            <a:pPr indent="0" marL="0">
              <a:buNone/>
            </a:pPr>
            <a:r>
              <a:rPr lang="en-US" sz="1400" dirty="0">
                <a:solidFill>
                  <a:schemeClr val="tx1"/>
                </a:solidFill>
                <a:latin typeface="Calibri" pitchFamily="34" charset="0"/>
                <a:ea typeface="Calibri" pitchFamily="34" charset="-122"/>
                <a:cs typeface="Calibri" pitchFamily="34" charset="-120"/>
              </a:rPr>
              <a:t>  →  check it isn't hallucinated  →  compare with what the market did  →  estimate each source's skill  →  show who to listen to.</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Step 1 · Collect posts</a:t>
            </a:r>
            <a:endParaRPr lang="en-US" sz="3000" dirty="0"/>
          </a:p>
        </p:txBody>
      </p:sp>
      <p:sp>
        <p:nvSpPr>
          <p:cNvPr id="3" name="function chip"/>
          <p:cNvSpPr/>
          <p:nvPr/>
        </p:nvSpPr>
        <p:spPr>
          <a:xfrm>
            <a:off x="457200" y="1024128"/>
            <a:ext cx="4069080" cy="384048"/>
          </a:xfrm>
          <a:prstGeom prst="roundRect">
            <a:avLst>
              <a:gd name="adj" fmla="val 19048"/>
            </a:avLst>
          </a:prstGeom>
          <a:solidFill>
            <a:srgbClr val="EEF4F0"/>
          </a:solidFill>
          <a:ln w="12700">
            <a:solidFill>
              <a:srgbClr val="EEF4F0"/>
            </a:solidFill>
            <a:prstDash val="solid"/>
          </a:ln>
        </p:spPr>
      </p:sp>
      <p:sp>
        <p:nvSpPr>
          <p:cNvPr id="4" name="Text 2"/>
          <p:cNvSpPr txBox="1"/>
          <p:nvPr/>
        </p:nvSpPr>
        <p:spPr>
          <a:xfrm>
            <a:off x="594360" y="1024128"/>
            <a:ext cx="3840480" cy="384048"/>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Source.fetch() -&gt; Iterable[PostIn]</a:t>
            </a:r>
            <a:endParaRPr lang="en-US" sz="1200" dirty="0"/>
          </a:p>
        </p:txBody>
      </p:sp>
      <p:sp>
        <p:nvSpPr>
          <p:cNvPr id="5" name="Text 3"/>
          <p:cNvSpPr txBox="1"/>
          <p:nvPr/>
        </p:nvSpPr>
        <p:spPr>
          <a:xfrm>
            <a:off x="457200" y="1536192"/>
            <a:ext cx="4069080" cy="457200"/>
          </a:xfrm>
          <a:prstGeom prst="rect">
            <a:avLst/>
          </a:prstGeom>
          <a:noFill/>
          <a:ln/>
        </p:spPr>
        <p:txBody>
          <a:bodyPr wrap="square" lIns="0" tIns="0" rIns="0" bIns="0" rtlCol="0" anchor="t"/>
          <a:lstStyle/>
          <a:p>
            <a:pPr indent="0" marL="0">
              <a:buNone/>
            </a:pPr>
            <a:r>
              <a:rPr lang="en-US" sz="1400" i="1" dirty="0">
                <a:solidFill>
                  <a:schemeClr val="accent4"/>
                </a:solidFill>
                <a:latin typeface="Calibri" pitchFamily="34" charset="0"/>
                <a:ea typeface="Calibri" pitchFamily="34" charset="-122"/>
                <a:cs typeface="Calibri" pitchFamily="34" charset="-120"/>
              </a:rPr>
              <a:t>Every source, one interface.</a:t>
            </a:r>
            <a:endParaRPr lang="en-US" sz="1400" dirty="0"/>
          </a:p>
        </p:txBody>
      </p:sp>
      <p:sp>
        <p:nvSpPr>
          <p:cNvPr id="6" name="Text 4"/>
          <p:cNvSpPr txBox="1"/>
          <p:nvPr/>
        </p:nvSpPr>
        <p:spPr>
          <a:xfrm>
            <a:off x="457200" y="2057400"/>
            <a:ext cx="406908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Abstract Source; RedditRSSSource and SubstackRSSSource extend RSSSource (each is an RSS feed with a known URL)</a:t>
            </a:r>
            <a:endParaRPr lang="en-US" sz="1300" dirty="0"/>
          </a:p>
          <a:p>
            <a:pPr marL="177800" indent="-177800">
              <a:spcAft>
                <a:spcPts val="800"/>
              </a:spcAft>
              <a:buSzPct val="100000"/>
              <a:buChar char="•"/>
            </a:pPr>
            <a:r>
              <a:rPr lang="en-US" sz="1300" dirty="0">
                <a:solidFill>
                  <a:schemeClr val="tx1"/>
                </a:solidFill>
              </a:rPr>
              <a:t>All return the same PostIn shape, so nothing downstream knows where a post came from</a:t>
            </a:r>
            <a:endParaRPr lang="en-US" sz="1300" dirty="0"/>
          </a:p>
          <a:p>
            <a:pPr marL="177800" indent="-177800">
              <a:spcAft>
                <a:spcPts val="800"/>
              </a:spcAft>
              <a:buSzPct val="100000"/>
              <a:buChar char="•"/>
            </a:pPr>
            <a:r>
              <a:rPr lang="en-US" sz="1300" dirty="0">
                <a:solidFill>
                  <a:schemeClr val="tx1"/>
                </a:solidFill>
              </a:rPr>
              <a:t>Reddit blocked its JSON API mid-project: switching to RSS changed one file</a:t>
            </a:r>
            <a:endParaRPr lang="en-US" sz="1300" dirty="0"/>
          </a:p>
        </p:txBody>
      </p:sp>
      <p:sp>
        <p:nvSpPr>
          <p:cNvPr id="7" name="Shape 5"/>
          <p:cNvSpPr/>
          <p:nvPr/>
        </p:nvSpPr>
        <p:spPr>
          <a:xfrm>
            <a:off x="457200" y="4315968"/>
            <a:ext cx="237744" cy="237744"/>
          </a:xfrm>
          <a:prstGeom prst="ellipse">
            <a:avLst/>
          </a:prstGeom>
          <a:solidFill>
            <a:srgbClr val="1F9D61"/>
          </a:solidFill>
          <a:ln w="12700">
            <a:solidFill>
              <a:srgbClr val="1F9D61"/>
            </a:solidFill>
            <a:prstDash val="solid"/>
          </a:ln>
        </p:spPr>
      </p:sp>
      <p:sp>
        <p:nvSpPr>
          <p:cNvPr id="8" name="Text 6"/>
          <p:cNvSpPr txBox="1"/>
          <p:nvPr/>
        </p:nvSpPr>
        <p:spPr>
          <a:xfrm>
            <a:off x="457200"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1</a:t>
            </a:r>
            <a:endParaRPr lang="en-US" sz="900" dirty="0"/>
          </a:p>
        </p:txBody>
      </p:sp>
      <p:sp>
        <p:nvSpPr>
          <p:cNvPr id="9" name="Shape 7"/>
          <p:cNvSpPr/>
          <p:nvPr/>
        </p:nvSpPr>
        <p:spPr>
          <a:xfrm>
            <a:off x="1024128" y="4315968"/>
            <a:ext cx="237744" cy="237744"/>
          </a:xfrm>
          <a:prstGeom prst="ellipse">
            <a:avLst/>
          </a:prstGeom>
          <a:solidFill>
            <a:srgbClr val="DDE6E2"/>
          </a:solidFill>
          <a:ln w="12700">
            <a:solidFill>
              <a:srgbClr val="DDE6E2"/>
            </a:solidFill>
            <a:prstDash val="solid"/>
          </a:ln>
        </p:spPr>
      </p:sp>
      <p:sp>
        <p:nvSpPr>
          <p:cNvPr id="10" name="Text 8"/>
          <p:cNvSpPr txBox="1"/>
          <p:nvPr/>
        </p:nvSpPr>
        <p:spPr>
          <a:xfrm>
            <a:off x="1024128"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2</a:t>
            </a:r>
            <a:endParaRPr lang="en-US" sz="900" dirty="0"/>
          </a:p>
        </p:txBody>
      </p:sp>
      <p:sp>
        <p:nvSpPr>
          <p:cNvPr id="11" name="Shape 9"/>
          <p:cNvSpPr/>
          <p:nvPr/>
        </p:nvSpPr>
        <p:spPr>
          <a:xfrm>
            <a:off x="1591056" y="4315968"/>
            <a:ext cx="237744" cy="237744"/>
          </a:xfrm>
          <a:prstGeom prst="ellipse">
            <a:avLst/>
          </a:prstGeom>
          <a:solidFill>
            <a:srgbClr val="DDE6E2"/>
          </a:solidFill>
          <a:ln w="12700">
            <a:solidFill>
              <a:srgbClr val="DDE6E2"/>
            </a:solidFill>
            <a:prstDash val="solid"/>
          </a:ln>
        </p:spPr>
      </p:sp>
      <p:sp>
        <p:nvSpPr>
          <p:cNvPr id="12" name="Text 10"/>
          <p:cNvSpPr txBox="1"/>
          <p:nvPr/>
        </p:nvSpPr>
        <p:spPr>
          <a:xfrm>
            <a:off x="1591056"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3</a:t>
            </a:r>
            <a:endParaRPr lang="en-US" sz="900" dirty="0"/>
          </a:p>
        </p:txBody>
      </p:sp>
      <p:sp>
        <p:nvSpPr>
          <p:cNvPr id="13" name="Shape 11"/>
          <p:cNvSpPr/>
          <p:nvPr/>
        </p:nvSpPr>
        <p:spPr>
          <a:xfrm>
            <a:off x="2157984" y="4315968"/>
            <a:ext cx="237744" cy="237744"/>
          </a:xfrm>
          <a:prstGeom prst="ellipse">
            <a:avLst/>
          </a:prstGeom>
          <a:solidFill>
            <a:srgbClr val="DDE6E2"/>
          </a:solidFill>
          <a:ln w="12700">
            <a:solidFill>
              <a:srgbClr val="DDE6E2"/>
            </a:solidFill>
            <a:prstDash val="solid"/>
          </a:ln>
        </p:spPr>
      </p:sp>
      <p:sp>
        <p:nvSpPr>
          <p:cNvPr id="14" name="Text 12"/>
          <p:cNvSpPr txBox="1"/>
          <p:nvPr/>
        </p:nvSpPr>
        <p:spPr>
          <a:xfrm>
            <a:off x="2157984"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4</a:t>
            </a:r>
            <a:endParaRPr lang="en-US" sz="900" dirty="0"/>
          </a:p>
        </p:txBody>
      </p:sp>
      <p:sp>
        <p:nvSpPr>
          <p:cNvPr id="15" name="Shape 13"/>
          <p:cNvSpPr/>
          <p:nvPr/>
        </p:nvSpPr>
        <p:spPr>
          <a:xfrm>
            <a:off x="2724912" y="4315968"/>
            <a:ext cx="237744" cy="237744"/>
          </a:xfrm>
          <a:prstGeom prst="ellipse">
            <a:avLst/>
          </a:prstGeom>
          <a:solidFill>
            <a:srgbClr val="DDE6E2"/>
          </a:solidFill>
          <a:ln w="12700">
            <a:solidFill>
              <a:srgbClr val="DDE6E2"/>
            </a:solidFill>
            <a:prstDash val="solid"/>
          </a:ln>
        </p:spPr>
      </p:sp>
      <p:sp>
        <p:nvSpPr>
          <p:cNvPr id="16" name="Text 14"/>
          <p:cNvSpPr txBox="1"/>
          <p:nvPr/>
        </p:nvSpPr>
        <p:spPr>
          <a:xfrm>
            <a:off x="2724912"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5</a:t>
            </a:r>
            <a:endParaRPr lang="en-US" sz="900" dirty="0"/>
          </a:p>
        </p:txBody>
      </p:sp>
      <p:sp>
        <p:nvSpPr>
          <p:cNvPr id="17" name="Shape 15"/>
          <p:cNvSpPr/>
          <p:nvPr/>
        </p:nvSpPr>
        <p:spPr>
          <a:xfrm>
            <a:off x="3291840" y="4315968"/>
            <a:ext cx="237744" cy="237744"/>
          </a:xfrm>
          <a:prstGeom prst="ellipse">
            <a:avLst/>
          </a:prstGeom>
          <a:solidFill>
            <a:srgbClr val="DDE6E2"/>
          </a:solidFill>
          <a:ln w="12700">
            <a:solidFill>
              <a:srgbClr val="DDE6E2"/>
            </a:solidFill>
            <a:prstDash val="solid"/>
          </a:ln>
        </p:spPr>
      </p:sp>
      <p:sp>
        <p:nvSpPr>
          <p:cNvPr id="18" name="Text 16"/>
          <p:cNvSpPr txBox="1"/>
          <p:nvPr/>
        </p:nvSpPr>
        <p:spPr>
          <a:xfrm>
            <a:off x="3291840"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6</a:t>
            </a:r>
            <a:endParaRPr lang="en-US" sz="900" dirty="0"/>
          </a:p>
        </p:txBody>
      </p:sp>
      <p:sp>
        <p:nvSpPr>
          <p:cNvPr id="19" name="Shape 17"/>
          <p:cNvSpPr/>
          <p:nvPr/>
        </p:nvSpPr>
        <p:spPr>
          <a:xfrm>
            <a:off x="3858768" y="4315968"/>
            <a:ext cx="237744" cy="237744"/>
          </a:xfrm>
          <a:prstGeom prst="ellipse">
            <a:avLst/>
          </a:prstGeom>
          <a:solidFill>
            <a:srgbClr val="DDE6E2"/>
          </a:solidFill>
          <a:ln w="12700">
            <a:solidFill>
              <a:srgbClr val="DDE6E2"/>
            </a:solidFill>
            <a:prstDash val="solid"/>
          </a:ln>
        </p:spPr>
      </p:sp>
      <p:sp>
        <p:nvSpPr>
          <p:cNvPr id="20" name="Text 18"/>
          <p:cNvSpPr txBox="1"/>
          <p:nvPr/>
        </p:nvSpPr>
        <p:spPr>
          <a:xfrm>
            <a:off x="3858768"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7</a:t>
            </a:r>
            <a:endParaRPr lang="en-US" sz="900" dirty="0"/>
          </a:p>
        </p:txBody>
      </p:sp>
      <p:sp>
        <p:nvSpPr>
          <p:cNvPr id="21" name="code placeholder"/>
          <p:cNvSpPr/>
          <p:nvPr/>
        </p:nvSpPr>
        <p:spPr>
          <a:xfrm>
            <a:off x="4800600" y="1024128"/>
            <a:ext cx="3886200" cy="3529584"/>
          </a:xfrm>
          <a:prstGeom prst="roundRect">
            <a:avLst>
              <a:gd name="adj" fmla="val 2073"/>
            </a:avLst>
          </a:prstGeom>
          <a:solidFill>
            <a:srgbClr val="16211F"/>
          </a:solidFill>
          <a:ln w="12700">
            <a:solidFill>
              <a:srgbClr val="16211F"/>
            </a:solidFill>
            <a:prstDash val="solid"/>
          </a:ln>
        </p:spPr>
      </p:sp>
      <p:sp>
        <p:nvSpPr>
          <p:cNvPr id="22" name="Text 20"/>
          <p:cNvSpPr txBox="1"/>
          <p:nvPr/>
        </p:nvSpPr>
        <p:spPr>
          <a:xfrm>
            <a:off x="5029200" y="1207008"/>
            <a:ext cx="3429000" cy="228600"/>
          </a:xfrm>
          <a:prstGeom prst="rect">
            <a:avLst/>
          </a:prstGeom>
          <a:noFill/>
          <a:ln/>
        </p:spPr>
        <p:txBody>
          <a:bodyPr wrap="square" lIns="0" tIns="0" rIns="0" bIns="0" rtlCol="0" anchor="ctr"/>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CODE SNIPPET</a:t>
            </a:r>
            <a:endParaRPr lang="en-US" sz="1000" dirty="0"/>
          </a:p>
        </p:txBody>
      </p:sp>
      <p:sp>
        <p:nvSpPr>
          <p:cNvPr id="23" name="Text 21"/>
          <p:cNvSpPr txBox="1"/>
          <p:nvPr/>
        </p:nvSpPr>
        <p:spPr>
          <a:xfrm>
            <a:off x="5029200" y="1463040"/>
            <a:ext cx="3429000" cy="32004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class RedditRSSSource(RSSSource)</a:t>
            </a:r>
            <a:endParaRPr lang="en-US" sz="1300" dirty="0"/>
          </a:p>
        </p:txBody>
      </p:sp>
      <p:sp>
        <p:nvSpPr>
          <p:cNvPr id="24" name="Text 22"/>
          <p:cNvSpPr txBox="1"/>
          <p:nvPr/>
        </p:nvSpPr>
        <p:spPr>
          <a:xfrm>
            <a:off x="5029200" y="1773936"/>
            <a:ext cx="3429000" cy="228600"/>
          </a:xfrm>
          <a:prstGeom prst="rect">
            <a:avLst/>
          </a:prstGeom>
          <a:noFill/>
          <a:ln/>
        </p:spPr>
        <p:txBody>
          <a:bodyPr wrap="square" lIns="0" tIns="0" rIns="0" bIns="0" rtlCol="0" anchor="ctr"/>
          <a:lstStyle/>
          <a:p>
            <a:pPr indent="0" marL="0">
              <a:buNone/>
            </a:pPr>
            <a:r>
              <a:rPr lang="en-US" sz="1000" dirty="0">
                <a:solidFill>
                  <a:schemeClr val="accent5"/>
                </a:solidFill>
                <a:latin typeface="Courier New" pitchFamily="34" charset="0"/>
                <a:ea typeface="Courier New" pitchFamily="34" charset="-122"/>
                <a:cs typeface="Courier New" pitchFamily="34" charset="-120"/>
              </a:rPr>
              <a:t>backend/tally/sources/reddit.py</a:t>
            </a:r>
            <a:endParaRPr lang="en-US" sz="1000" dirty="0"/>
          </a:p>
        </p:txBody>
      </p:sp>
      <p:sp>
        <p:nvSpPr>
          <p:cNvPr id="25" name="Text 23"/>
          <p:cNvSpPr txBox="1"/>
          <p:nvPr/>
        </p:nvSpPr>
        <p:spPr>
          <a:xfrm>
            <a:off x="5029200" y="2788920"/>
            <a:ext cx="3429000" cy="365760"/>
          </a:xfrm>
          <a:prstGeom prst="rect">
            <a:avLst/>
          </a:prstGeom>
          <a:noFill/>
          <a:ln/>
        </p:spPr>
        <p:txBody>
          <a:bodyPr wrap="square" lIns="0" tIns="0" rIns="0" bIns="0" rtlCol="0" anchor="ctr"/>
          <a:lstStyle/>
          <a:p>
            <a:pPr algn="ctr" indent="0" marL="0">
              <a:buNone/>
            </a:pPr>
            <a:r>
              <a:rPr lang="en-US" sz="1100" i="1" dirty="0">
                <a:solidFill>
                  <a:schemeClr val="accent4"/>
                </a:solidFill>
                <a:latin typeface="Calibri" pitchFamily="34" charset="0"/>
                <a:ea typeface="Calibri" pitchFamily="34" charset="-122"/>
                <a:cs typeface="Calibri" pitchFamily="34" charset="-120"/>
              </a:rPr>
              <a:t>Paste code screenshot here after clean-up</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Step 2 · Filter and store</a:t>
            </a:r>
            <a:endParaRPr lang="en-US" sz="3000" dirty="0"/>
          </a:p>
        </p:txBody>
      </p:sp>
      <p:sp>
        <p:nvSpPr>
          <p:cNvPr id="3" name="function chip"/>
          <p:cNvSpPr/>
          <p:nvPr/>
        </p:nvSpPr>
        <p:spPr>
          <a:xfrm>
            <a:off x="457200" y="1024128"/>
            <a:ext cx="4069080" cy="384048"/>
          </a:xfrm>
          <a:prstGeom prst="roundRect">
            <a:avLst>
              <a:gd name="adj" fmla="val 19048"/>
            </a:avLst>
          </a:prstGeom>
          <a:solidFill>
            <a:srgbClr val="EEF4F0"/>
          </a:solidFill>
          <a:ln w="12700">
            <a:solidFill>
              <a:srgbClr val="EEF4F0"/>
            </a:solidFill>
            <a:prstDash val="solid"/>
          </a:ln>
        </p:spPr>
      </p:sp>
      <p:sp>
        <p:nvSpPr>
          <p:cNvPr id="4" name="Text 2"/>
          <p:cNvSpPr txBox="1"/>
          <p:nvPr/>
        </p:nvSpPr>
        <p:spPr>
          <a:xfrm>
            <a:off x="594360" y="1024128"/>
            <a:ext cx="3840480" cy="384048"/>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IngestionService.ingest(post)</a:t>
            </a:r>
            <a:endParaRPr lang="en-US" sz="1200" dirty="0"/>
          </a:p>
        </p:txBody>
      </p:sp>
      <p:sp>
        <p:nvSpPr>
          <p:cNvPr id="5" name="Text 3"/>
          <p:cNvSpPr txBox="1"/>
          <p:nvPr/>
        </p:nvSpPr>
        <p:spPr>
          <a:xfrm>
            <a:off x="457200" y="1536192"/>
            <a:ext cx="4069080" cy="457200"/>
          </a:xfrm>
          <a:prstGeom prst="rect">
            <a:avLst/>
          </a:prstGeom>
          <a:noFill/>
          <a:ln/>
        </p:spPr>
        <p:txBody>
          <a:bodyPr wrap="square" lIns="0" tIns="0" rIns="0" bIns="0" rtlCol="0" anchor="t"/>
          <a:lstStyle/>
          <a:p>
            <a:pPr indent="0" marL="0">
              <a:buNone/>
            </a:pPr>
            <a:r>
              <a:rPr lang="en-US" sz="1400" i="1" dirty="0">
                <a:solidFill>
                  <a:schemeClr val="accent4"/>
                </a:solidFill>
                <a:latin typeface="Calibri" pitchFamily="34" charset="0"/>
                <a:ea typeface="Calibri" pitchFamily="34" charset="-122"/>
                <a:cs typeface="Calibri" pitchFamily="34" charset="-120"/>
              </a:rPr>
              <a:t>Don't pay an LLM to read chatter.</a:t>
            </a:r>
            <a:endParaRPr lang="en-US" sz="1400" dirty="0"/>
          </a:p>
        </p:txBody>
      </p:sp>
      <p:sp>
        <p:nvSpPr>
          <p:cNvPr id="6" name="Text 4"/>
          <p:cNvSpPr txBox="1"/>
          <p:nvPr/>
        </p:nvSpPr>
        <p:spPr>
          <a:xfrm>
            <a:off x="457200" y="2057400"/>
            <a:ext cx="406908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Keyword pre-filter: 7 of 10 r/ValueInvesting posts dropped before any LLM call</a:t>
            </a:r>
            <a:endParaRPr lang="en-US" sz="1300" dirty="0"/>
          </a:p>
          <a:p>
            <a:pPr marL="177800" indent="-177800">
              <a:spcAft>
                <a:spcPts val="800"/>
              </a:spcAft>
              <a:buSzPct val="100000"/>
              <a:buChar char="•"/>
            </a:pPr>
            <a:r>
              <a:rPr lang="en-US" sz="1300" dirty="0">
                <a:solidFill>
                  <a:schemeClr val="tx1"/>
                </a:solidFill>
              </a:rPr>
              <a:t>Saved with OUR timestamp, so authors can't backdate their calls</a:t>
            </a:r>
            <a:endParaRPr lang="en-US" sz="1300" dirty="0"/>
          </a:p>
          <a:p>
            <a:pPr marL="177800" indent="-177800">
              <a:spcAft>
                <a:spcPts val="800"/>
              </a:spcAft>
              <a:buSzPct val="100000"/>
              <a:buChar char="•"/>
            </a:pPr>
            <a:r>
              <a:rPr lang="en-US" sz="1300" dirty="0">
                <a:solidFill>
                  <a:schemeClr val="tx1"/>
                </a:solidFill>
              </a:rPr>
              <a:t>UNIQUE dedupe key: polling twice is harmless; the job is enqueued in the same transaction</a:t>
            </a:r>
            <a:endParaRPr lang="en-US" sz="1300" dirty="0"/>
          </a:p>
        </p:txBody>
      </p:sp>
      <p:sp>
        <p:nvSpPr>
          <p:cNvPr id="7" name="Shape 5"/>
          <p:cNvSpPr/>
          <p:nvPr/>
        </p:nvSpPr>
        <p:spPr>
          <a:xfrm>
            <a:off x="457200" y="4315968"/>
            <a:ext cx="237744" cy="237744"/>
          </a:xfrm>
          <a:prstGeom prst="ellipse">
            <a:avLst/>
          </a:prstGeom>
          <a:solidFill>
            <a:srgbClr val="A9C7BA"/>
          </a:solidFill>
          <a:ln w="12700">
            <a:solidFill>
              <a:srgbClr val="A9C7BA"/>
            </a:solidFill>
            <a:prstDash val="solid"/>
          </a:ln>
        </p:spPr>
      </p:sp>
      <p:sp>
        <p:nvSpPr>
          <p:cNvPr id="8" name="Text 6"/>
          <p:cNvSpPr txBox="1"/>
          <p:nvPr/>
        </p:nvSpPr>
        <p:spPr>
          <a:xfrm>
            <a:off x="457200"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1</a:t>
            </a:r>
            <a:endParaRPr lang="en-US" sz="900" dirty="0"/>
          </a:p>
        </p:txBody>
      </p:sp>
      <p:sp>
        <p:nvSpPr>
          <p:cNvPr id="9" name="Shape 7"/>
          <p:cNvSpPr/>
          <p:nvPr/>
        </p:nvSpPr>
        <p:spPr>
          <a:xfrm>
            <a:off x="1024128" y="4315968"/>
            <a:ext cx="237744" cy="237744"/>
          </a:xfrm>
          <a:prstGeom prst="ellipse">
            <a:avLst/>
          </a:prstGeom>
          <a:solidFill>
            <a:srgbClr val="1F9D61"/>
          </a:solidFill>
          <a:ln w="12700">
            <a:solidFill>
              <a:srgbClr val="1F9D61"/>
            </a:solidFill>
            <a:prstDash val="solid"/>
          </a:ln>
        </p:spPr>
      </p:sp>
      <p:sp>
        <p:nvSpPr>
          <p:cNvPr id="10" name="Text 8"/>
          <p:cNvSpPr txBox="1"/>
          <p:nvPr/>
        </p:nvSpPr>
        <p:spPr>
          <a:xfrm>
            <a:off x="1024128"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2</a:t>
            </a:r>
            <a:endParaRPr lang="en-US" sz="900" dirty="0"/>
          </a:p>
        </p:txBody>
      </p:sp>
      <p:sp>
        <p:nvSpPr>
          <p:cNvPr id="11" name="Shape 9"/>
          <p:cNvSpPr/>
          <p:nvPr/>
        </p:nvSpPr>
        <p:spPr>
          <a:xfrm>
            <a:off x="1591056" y="4315968"/>
            <a:ext cx="237744" cy="237744"/>
          </a:xfrm>
          <a:prstGeom prst="ellipse">
            <a:avLst/>
          </a:prstGeom>
          <a:solidFill>
            <a:srgbClr val="DDE6E2"/>
          </a:solidFill>
          <a:ln w="12700">
            <a:solidFill>
              <a:srgbClr val="DDE6E2"/>
            </a:solidFill>
            <a:prstDash val="solid"/>
          </a:ln>
        </p:spPr>
      </p:sp>
      <p:sp>
        <p:nvSpPr>
          <p:cNvPr id="12" name="Text 10"/>
          <p:cNvSpPr txBox="1"/>
          <p:nvPr/>
        </p:nvSpPr>
        <p:spPr>
          <a:xfrm>
            <a:off x="1591056"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3</a:t>
            </a:r>
            <a:endParaRPr lang="en-US" sz="900" dirty="0"/>
          </a:p>
        </p:txBody>
      </p:sp>
      <p:sp>
        <p:nvSpPr>
          <p:cNvPr id="13" name="Shape 11"/>
          <p:cNvSpPr/>
          <p:nvPr/>
        </p:nvSpPr>
        <p:spPr>
          <a:xfrm>
            <a:off x="2157984" y="4315968"/>
            <a:ext cx="237744" cy="237744"/>
          </a:xfrm>
          <a:prstGeom prst="ellipse">
            <a:avLst/>
          </a:prstGeom>
          <a:solidFill>
            <a:srgbClr val="DDE6E2"/>
          </a:solidFill>
          <a:ln w="12700">
            <a:solidFill>
              <a:srgbClr val="DDE6E2"/>
            </a:solidFill>
            <a:prstDash val="solid"/>
          </a:ln>
        </p:spPr>
      </p:sp>
      <p:sp>
        <p:nvSpPr>
          <p:cNvPr id="14" name="Text 12"/>
          <p:cNvSpPr txBox="1"/>
          <p:nvPr/>
        </p:nvSpPr>
        <p:spPr>
          <a:xfrm>
            <a:off x="2157984"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4</a:t>
            </a:r>
            <a:endParaRPr lang="en-US" sz="900" dirty="0"/>
          </a:p>
        </p:txBody>
      </p:sp>
      <p:sp>
        <p:nvSpPr>
          <p:cNvPr id="15" name="Shape 13"/>
          <p:cNvSpPr/>
          <p:nvPr/>
        </p:nvSpPr>
        <p:spPr>
          <a:xfrm>
            <a:off x="2724912" y="4315968"/>
            <a:ext cx="237744" cy="237744"/>
          </a:xfrm>
          <a:prstGeom prst="ellipse">
            <a:avLst/>
          </a:prstGeom>
          <a:solidFill>
            <a:srgbClr val="DDE6E2"/>
          </a:solidFill>
          <a:ln w="12700">
            <a:solidFill>
              <a:srgbClr val="DDE6E2"/>
            </a:solidFill>
            <a:prstDash val="solid"/>
          </a:ln>
        </p:spPr>
      </p:sp>
      <p:sp>
        <p:nvSpPr>
          <p:cNvPr id="16" name="Text 14"/>
          <p:cNvSpPr txBox="1"/>
          <p:nvPr/>
        </p:nvSpPr>
        <p:spPr>
          <a:xfrm>
            <a:off x="2724912"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5</a:t>
            </a:r>
            <a:endParaRPr lang="en-US" sz="900" dirty="0"/>
          </a:p>
        </p:txBody>
      </p:sp>
      <p:sp>
        <p:nvSpPr>
          <p:cNvPr id="17" name="Shape 15"/>
          <p:cNvSpPr/>
          <p:nvPr/>
        </p:nvSpPr>
        <p:spPr>
          <a:xfrm>
            <a:off x="3291840" y="4315968"/>
            <a:ext cx="237744" cy="237744"/>
          </a:xfrm>
          <a:prstGeom prst="ellipse">
            <a:avLst/>
          </a:prstGeom>
          <a:solidFill>
            <a:srgbClr val="DDE6E2"/>
          </a:solidFill>
          <a:ln w="12700">
            <a:solidFill>
              <a:srgbClr val="DDE6E2"/>
            </a:solidFill>
            <a:prstDash val="solid"/>
          </a:ln>
        </p:spPr>
      </p:sp>
      <p:sp>
        <p:nvSpPr>
          <p:cNvPr id="18" name="Text 16"/>
          <p:cNvSpPr txBox="1"/>
          <p:nvPr/>
        </p:nvSpPr>
        <p:spPr>
          <a:xfrm>
            <a:off x="3291840"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6</a:t>
            </a:r>
            <a:endParaRPr lang="en-US" sz="900" dirty="0"/>
          </a:p>
        </p:txBody>
      </p:sp>
      <p:sp>
        <p:nvSpPr>
          <p:cNvPr id="19" name="Shape 17"/>
          <p:cNvSpPr/>
          <p:nvPr/>
        </p:nvSpPr>
        <p:spPr>
          <a:xfrm>
            <a:off x="3858768" y="4315968"/>
            <a:ext cx="237744" cy="237744"/>
          </a:xfrm>
          <a:prstGeom prst="ellipse">
            <a:avLst/>
          </a:prstGeom>
          <a:solidFill>
            <a:srgbClr val="DDE6E2"/>
          </a:solidFill>
          <a:ln w="12700">
            <a:solidFill>
              <a:srgbClr val="DDE6E2"/>
            </a:solidFill>
            <a:prstDash val="solid"/>
          </a:ln>
        </p:spPr>
      </p:sp>
      <p:sp>
        <p:nvSpPr>
          <p:cNvPr id="20" name="Text 18"/>
          <p:cNvSpPr txBox="1"/>
          <p:nvPr/>
        </p:nvSpPr>
        <p:spPr>
          <a:xfrm>
            <a:off x="3858768"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7</a:t>
            </a:r>
            <a:endParaRPr lang="en-US" sz="900" dirty="0"/>
          </a:p>
        </p:txBody>
      </p:sp>
      <p:sp>
        <p:nvSpPr>
          <p:cNvPr id="21" name="code placeholder"/>
          <p:cNvSpPr/>
          <p:nvPr/>
        </p:nvSpPr>
        <p:spPr>
          <a:xfrm>
            <a:off x="4800600" y="1024128"/>
            <a:ext cx="3886200" cy="3529584"/>
          </a:xfrm>
          <a:prstGeom prst="roundRect">
            <a:avLst>
              <a:gd name="adj" fmla="val 2073"/>
            </a:avLst>
          </a:prstGeom>
          <a:solidFill>
            <a:srgbClr val="16211F"/>
          </a:solidFill>
          <a:ln w="12700">
            <a:solidFill>
              <a:srgbClr val="16211F"/>
            </a:solidFill>
            <a:prstDash val="solid"/>
          </a:ln>
        </p:spPr>
      </p:sp>
      <p:sp>
        <p:nvSpPr>
          <p:cNvPr id="22" name="Text 20"/>
          <p:cNvSpPr txBox="1"/>
          <p:nvPr/>
        </p:nvSpPr>
        <p:spPr>
          <a:xfrm>
            <a:off x="5029200" y="1207008"/>
            <a:ext cx="3429000" cy="228600"/>
          </a:xfrm>
          <a:prstGeom prst="rect">
            <a:avLst/>
          </a:prstGeom>
          <a:noFill/>
          <a:ln/>
        </p:spPr>
        <p:txBody>
          <a:bodyPr wrap="square" lIns="0" tIns="0" rIns="0" bIns="0" rtlCol="0" anchor="ctr"/>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CODE SNIPPET</a:t>
            </a:r>
            <a:endParaRPr lang="en-US" sz="1000" dirty="0"/>
          </a:p>
        </p:txBody>
      </p:sp>
      <p:sp>
        <p:nvSpPr>
          <p:cNvPr id="23" name="Text 21"/>
          <p:cNvSpPr txBox="1"/>
          <p:nvPr/>
        </p:nvSpPr>
        <p:spPr>
          <a:xfrm>
            <a:off x="5029200" y="1463040"/>
            <a:ext cx="3429000" cy="32004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IngestionService.ingest()</a:t>
            </a:r>
            <a:endParaRPr lang="en-US" sz="1300" dirty="0"/>
          </a:p>
        </p:txBody>
      </p:sp>
      <p:sp>
        <p:nvSpPr>
          <p:cNvPr id="24" name="Text 22"/>
          <p:cNvSpPr txBox="1"/>
          <p:nvPr/>
        </p:nvSpPr>
        <p:spPr>
          <a:xfrm>
            <a:off x="5029200" y="1773936"/>
            <a:ext cx="3429000" cy="228600"/>
          </a:xfrm>
          <a:prstGeom prst="rect">
            <a:avLst/>
          </a:prstGeom>
          <a:noFill/>
          <a:ln/>
        </p:spPr>
        <p:txBody>
          <a:bodyPr wrap="square" lIns="0" tIns="0" rIns="0" bIns="0" rtlCol="0" anchor="ctr"/>
          <a:lstStyle/>
          <a:p>
            <a:pPr indent="0" marL="0">
              <a:buNone/>
            </a:pPr>
            <a:r>
              <a:rPr lang="en-US" sz="1000" dirty="0">
                <a:solidFill>
                  <a:schemeClr val="accent5"/>
                </a:solidFill>
                <a:latin typeface="Courier New" pitchFamily="34" charset="0"/>
                <a:ea typeface="Courier New" pitchFamily="34" charset="-122"/>
                <a:cs typeface="Courier New" pitchFamily="34" charset="-120"/>
              </a:rPr>
              <a:t>backend/tally/ingestion/service.py</a:t>
            </a:r>
            <a:endParaRPr lang="en-US" sz="1000" dirty="0"/>
          </a:p>
        </p:txBody>
      </p:sp>
      <p:sp>
        <p:nvSpPr>
          <p:cNvPr id="25" name="Text 23"/>
          <p:cNvSpPr txBox="1"/>
          <p:nvPr/>
        </p:nvSpPr>
        <p:spPr>
          <a:xfrm>
            <a:off x="5029200" y="2788920"/>
            <a:ext cx="3429000" cy="365760"/>
          </a:xfrm>
          <a:prstGeom prst="rect">
            <a:avLst/>
          </a:prstGeom>
          <a:noFill/>
          <a:ln/>
        </p:spPr>
        <p:txBody>
          <a:bodyPr wrap="square" lIns="0" tIns="0" rIns="0" bIns="0" rtlCol="0" anchor="ctr"/>
          <a:lstStyle/>
          <a:p>
            <a:pPr algn="ctr" indent="0" marL="0">
              <a:buNone/>
            </a:pPr>
            <a:r>
              <a:rPr lang="en-US" sz="1100" i="1" dirty="0">
                <a:solidFill>
                  <a:schemeClr val="accent4"/>
                </a:solidFill>
                <a:latin typeface="Calibri" pitchFamily="34" charset="0"/>
                <a:ea typeface="Calibri" pitchFamily="34" charset="-122"/>
                <a:cs typeface="Calibri" pitchFamily="34" charset="-120"/>
              </a:rPr>
              <a:t>Paste code screenshot here after clean-up</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Step 3 · Extract with an LLM</a:t>
            </a:r>
            <a:endParaRPr lang="en-US" sz="3000" dirty="0"/>
          </a:p>
        </p:txBody>
      </p:sp>
      <p:sp>
        <p:nvSpPr>
          <p:cNvPr id="3" name="function chip"/>
          <p:cNvSpPr/>
          <p:nvPr/>
        </p:nvSpPr>
        <p:spPr>
          <a:xfrm>
            <a:off x="457200" y="1024128"/>
            <a:ext cx="4069080" cy="384048"/>
          </a:xfrm>
          <a:prstGeom prst="roundRect">
            <a:avLst>
              <a:gd name="adj" fmla="val 19048"/>
            </a:avLst>
          </a:prstGeom>
          <a:solidFill>
            <a:srgbClr val="EEF4F0"/>
          </a:solidFill>
          <a:ln w="12700">
            <a:solidFill>
              <a:srgbClr val="EEF4F0"/>
            </a:solidFill>
            <a:prstDash val="solid"/>
          </a:ln>
        </p:spPr>
      </p:sp>
      <p:sp>
        <p:nvSpPr>
          <p:cNvPr id="4" name="Text 2"/>
          <p:cNvSpPr txBox="1"/>
          <p:nvPr/>
        </p:nvSpPr>
        <p:spPr>
          <a:xfrm>
            <a:off x="594360" y="1024128"/>
            <a:ext cx="3840480" cy="384048"/>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LLMIdeaExtractor.extract(text, posted_at)</a:t>
            </a:r>
            <a:endParaRPr lang="en-US" sz="1200" dirty="0"/>
          </a:p>
        </p:txBody>
      </p:sp>
      <p:sp>
        <p:nvSpPr>
          <p:cNvPr id="5" name="Text 3"/>
          <p:cNvSpPr txBox="1"/>
          <p:nvPr/>
        </p:nvSpPr>
        <p:spPr>
          <a:xfrm>
            <a:off x="457200" y="1536192"/>
            <a:ext cx="4069080" cy="457200"/>
          </a:xfrm>
          <a:prstGeom prst="rect">
            <a:avLst/>
          </a:prstGeom>
          <a:noFill/>
          <a:ln/>
        </p:spPr>
        <p:txBody>
          <a:bodyPr wrap="square" lIns="0" tIns="0" rIns="0" bIns="0" rtlCol="0" anchor="t"/>
          <a:lstStyle/>
          <a:p>
            <a:pPr indent="0" marL="0">
              <a:buNone/>
            </a:pPr>
            <a:r>
              <a:rPr lang="en-US" sz="1400" i="1" dirty="0">
                <a:solidFill>
                  <a:schemeClr val="accent4"/>
                </a:solidFill>
                <a:latin typeface="Calibri" pitchFamily="34" charset="0"/>
                <a:ea typeface="Calibri" pitchFamily="34" charset="-122"/>
                <a:cs typeface="Calibri" pitchFamily="34" charset="-120"/>
              </a:rPr>
              <a:t>Free text in, structured prediction out.</a:t>
            </a:r>
            <a:endParaRPr lang="en-US" sz="1400" dirty="0"/>
          </a:p>
        </p:txBody>
      </p:sp>
      <p:sp>
        <p:nvSpPr>
          <p:cNvPr id="6" name="Text 4"/>
          <p:cNvSpPr txBox="1"/>
          <p:nvPr/>
        </p:nvSpPr>
        <p:spPr>
          <a:xfrm>
            <a:off x="457200" y="2057400"/>
            <a:ext cx="406908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Prompt encodes trading rules: buying puts = SHORT, selling puts = LONG; questions, sarcasm, hearsay = no idea</a:t>
            </a:r>
            <a:endParaRPr lang="en-US" sz="1300" dirty="0"/>
          </a:p>
          <a:p>
            <a:pPr marL="177800" indent="-177800">
              <a:spcAft>
                <a:spcPts val="800"/>
              </a:spcAft>
              <a:buSzPct val="100000"/>
              <a:buChar char="•"/>
            </a:pPr>
            <a:r>
              <a:rPr lang="en-US" sz="1300" dirty="0">
                <a:solidFill>
                  <a:schemeClr val="tx1"/>
                </a:solidFill>
              </a:rPr>
              <a:t>Provider-agnostic (Groq / Gemini / OpenRouter), rate-limited, responses cached</a:t>
            </a:r>
            <a:endParaRPr lang="en-US" sz="1300" dirty="0"/>
          </a:p>
        </p:txBody>
      </p:sp>
      <p:sp>
        <p:nvSpPr>
          <p:cNvPr id="7" name="json example"/>
          <p:cNvSpPr/>
          <p:nvPr/>
        </p:nvSpPr>
        <p:spPr>
          <a:xfrm>
            <a:off x="457200" y="3246120"/>
            <a:ext cx="4069080" cy="914400"/>
          </a:xfrm>
          <a:prstGeom prst="roundRect">
            <a:avLst>
              <a:gd name="adj" fmla="val 8000"/>
            </a:avLst>
          </a:prstGeom>
          <a:solidFill>
            <a:srgbClr val="16211F"/>
          </a:solidFill>
          <a:ln w="12700">
            <a:solidFill>
              <a:srgbClr val="16211F"/>
            </a:solidFill>
            <a:prstDash val="solid"/>
          </a:ln>
        </p:spPr>
      </p:sp>
      <p:sp>
        <p:nvSpPr>
          <p:cNvPr id="8" name="Text 6"/>
          <p:cNvSpPr txBox="1"/>
          <p:nvPr/>
        </p:nvSpPr>
        <p:spPr>
          <a:xfrm>
            <a:off x="640080" y="3291840"/>
            <a:ext cx="3749040" cy="82296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{"ticker": "TSLA", "direction": "SHORT",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"horizon_days": 20, "confidence": 0.93}</a:t>
            </a:r>
            <a:endParaRPr lang="en-US" sz="1100" dirty="0"/>
          </a:p>
        </p:txBody>
      </p:sp>
      <p:sp>
        <p:nvSpPr>
          <p:cNvPr id="9" name="Shape 7"/>
          <p:cNvSpPr/>
          <p:nvPr/>
        </p:nvSpPr>
        <p:spPr>
          <a:xfrm>
            <a:off x="457200" y="4315968"/>
            <a:ext cx="237744" cy="237744"/>
          </a:xfrm>
          <a:prstGeom prst="ellipse">
            <a:avLst/>
          </a:prstGeom>
          <a:solidFill>
            <a:srgbClr val="A9C7BA"/>
          </a:solidFill>
          <a:ln w="12700">
            <a:solidFill>
              <a:srgbClr val="A9C7BA"/>
            </a:solidFill>
            <a:prstDash val="solid"/>
          </a:ln>
        </p:spPr>
      </p:sp>
      <p:sp>
        <p:nvSpPr>
          <p:cNvPr id="10" name="Text 8"/>
          <p:cNvSpPr txBox="1"/>
          <p:nvPr/>
        </p:nvSpPr>
        <p:spPr>
          <a:xfrm>
            <a:off x="457200"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1</a:t>
            </a:r>
            <a:endParaRPr lang="en-US" sz="900" dirty="0"/>
          </a:p>
        </p:txBody>
      </p:sp>
      <p:sp>
        <p:nvSpPr>
          <p:cNvPr id="11" name="Shape 9"/>
          <p:cNvSpPr/>
          <p:nvPr/>
        </p:nvSpPr>
        <p:spPr>
          <a:xfrm>
            <a:off x="1024128" y="4315968"/>
            <a:ext cx="237744" cy="237744"/>
          </a:xfrm>
          <a:prstGeom prst="ellipse">
            <a:avLst/>
          </a:prstGeom>
          <a:solidFill>
            <a:srgbClr val="A9C7BA"/>
          </a:solidFill>
          <a:ln w="12700">
            <a:solidFill>
              <a:srgbClr val="A9C7BA"/>
            </a:solidFill>
            <a:prstDash val="solid"/>
          </a:ln>
        </p:spPr>
      </p:sp>
      <p:sp>
        <p:nvSpPr>
          <p:cNvPr id="12" name="Text 10"/>
          <p:cNvSpPr txBox="1"/>
          <p:nvPr/>
        </p:nvSpPr>
        <p:spPr>
          <a:xfrm>
            <a:off x="1024128"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2</a:t>
            </a:r>
            <a:endParaRPr lang="en-US" sz="900" dirty="0"/>
          </a:p>
        </p:txBody>
      </p:sp>
      <p:sp>
        <p:nvSpPr>
          <p:cNvPr id="13" name="Shape 11"/>
          <p:cNvSpPr/>
          <p:nvPr/>
        </p:nvSpPr>
        <p:spPr>
          <a:xfrm>
            <a:off x="1591056" y="4315968"/>
            <a:ext cx="237744" cy="237744"/>
          </a:xfrm>
          <a:prstGeom prst="ellipse">
            <a:avLst/>
          </a:prstGeom>
          <a:solidFill>
            <a:srgbClr val="1F9D61"/>
          </a:solidFill>
          <a:ln w="12700">
            <a:solidFill>
              <a:srgbClr val="1F9D61"/>
            </a:solidFill>
            <a:prstDash val="solid"/>
          </a:ln>
        </p:spPr>
      </p:sp>
      <p:sp>
        <p:nvSpPr>
          <p:cNvPr id="14" name="Text 12"/>
          <p:cNvSpPr txBox="1"/>
          <p:nvPr/>
        </p:nvSpPr>
        <p:spPr>
          <a:xfrm>
            <a:off x="1591056"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3</a:t>
            </a:r>
            <a:endParaRPr lang="en-US" sz="900" dirty="0"/>
          </a:p>
        </p:txBody>
      </p:sp>
      <p:sp>
        <p:nvSpPr>
          <p:cNvPr id="15" name="Shape 13"/>
          <p:cNvSpPr/>
          <p:nvPr/>
        </p:nvSpPr>
        <p:spPr>
          <a:xfrm>
            <a:off x="2157984" y="4315968"/>
            <a:ext cx="237744" cy="237744"/>
          </a:xfrm>
          <a:prstGeom prst="ellipse">
            <a:avLst/>
          </a:prstGeom>
          <a:solidFill>
            <a:srgbClr val="DDE6E2"/>
          </a:solidFill>
          <a:ln w="12700">
            <a:solidFill>
              <a:srgbClr val="DDE6E2"/>
            </a:solidFill>
            <a:prstDash val="solid"/>
          </a:ln>
        </p:spPr>
      </p:sp>
      <p:sp>
        <p:nvSpPr>
          <p:cNvPr id="16" name="Text 14"/>
          <p:cNvSpPr txBox="1"/>
          <p:nvPr/>
        </p:nvSpPr>
        <p:spPr>
          <a:xfrm>
            <a:off x="2157984"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4</a:t>
            </a:r>
            <a:endParaRPr lang="en-US" sz="900" dirty="0"/>
          </a:p>
        </p:txBody>
      </p:sp>
      <p:sp>
        <p:nvSpPr>
          <p:cNvPr id="17" name="Shape 15"/>
          <p:cNvSpPr/>
          <p:nvPr/>
        </p:nvSpPr>
        <p:spPr>
          <a:xfrm>
            <a:off x="2724912" y="4315968"/>
            <a:ext cx="237744" cy="237744"/>
          </a:xfrm>
          <a:prstGeom prst="ellipse">
            <a:avLst/>
          </a:prstGeom>
          <a:solidFill>
            <a:srgbClr val="DDE6E2"/>
          </a:solidFill>
          <a:ln w="12700">
            <a:solidFill>
              <a:srgbClr val="DDE6E2"/>
            </a:solidFill>
            <a:prstDash val="solid"/>
          </a:ln>
        </p:spPr>
      </p:sp>
      <p:sp>
        <p:nvSpPr>
          <p:cNvPr id="18" name="Text 16"/>
          <p:cNvSpPr txBox="1"/>
          <p:nvPr/>
        </p:nvSpPr>
        <p:spPr>
          <a:xfrm>
            <a:off x="2724912"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5</a:t>
            </a:r>
            <a:endParaRPr lang="en-US" sz="900" dirty="0"/>
          </a:p>
        </p:txBody>
      </p:sp>
      <p:sp>
        <p:nvSpPr>
          <p:cNvPr id="19" name="Shape 17"/>
          <p:cNvSpPr/>
          <p:nvPr/>
        </p:nvSpPr>
        <p:spPr>
          <a:xfrm>
            <a:off x="3291840" y="4315968"/>
            <a:ext cx="237744" cy="237744"/>
          </a:xfrm>
          <a:prstGeom prst="ellipse">
            <a:avLst/>
          </a:prstGeom>
          <a:solidFill>
            <a:srgbClr val="DDE6E2"/>
          </a:solidFill>
          <a:ln w="12700">
            <a:solidFill>
              <a:srgbClr val="DDE6E2"/>
            </a:solidFill>
            <a:prstDash val="solid"/>
          </a:ln>
        </p:spPr>
      </p:sp>
      <p:sp>
        <p:nvSpPr>
          <p:cNvPr id="20" name="Text 18"/>
          <p:cNvSpPr txBox="1"/>
          <p:nvPr/>
        </p:nvSpPr>
        <p:spPr>
          <a:xfrm>
            <a:off x="3291840"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6</a:t>
            </a:r>
            <a:endParaRPr lang="en-US" sz="900" dirty="0"/>
          </a:p>
        </p:txBody>
      </p:sp>
      <p:sp>
        <p:nvSpPr>
          <p:cNvPr id="21" name="Shape 19"/>
          <p:cNvSpPr/>
          <p:nvPr/>
        </p:nvSpPr>
        <p:spPr>
          <a:xfrm>
            <a:off x="3858768" y="4315968"/>
            <a:ext cx="237744" cy="237744"/>
          </a:xfrm>
          <a:prstGeom prst="ellipse">
            <a:avLst/>
          </a:prstGeom>
          <a:solidFill>
            <a:srgbClr val="DDE6E2"/>
          </a:solidFill>
          <a:ln w="12700">
            <a:solidFill>
              <a:srgbClr val="DDE6E2"/>
            </a:solidFill>
            <a:prstDash val="solid"/>
          </a:ln>
        </p:spPr>
      </p:sp>
      <p:sp>
        <p:nvSpPr>
          <p:cNvPr id="22" name="Text 20"/>
          <p:cNvSpPr txBox="1"/>
          <p:nvPr/>
        </p:nvSpPr>
        <p:spPr>
          <a:xfrm>
            <a:off x="3858768"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7</a:t>
            </a:r>
            <a:endParaRPr lang="en-US" sz="900" dirty="0"/>
          </a:p>
        </p:txBody>
      </p:sp>
      <p:sp>
        <p:nvSpPr>
          <p:cNvPr id="23" name="code placeholder"/>
          <p:cNvSpPr/>
          <p:nvPr/>
        </p:nvSpPr>
        <p:spPr>
          <a:xfrm>
            <a:off x="4800600" y="1024128"/>
            <a:ext cx="3886200" cy="3529584"/>
          </a:xfrm>
          <a:prstGeom prst="roundRect">
            <a:avLst>
              <a:gd name="adj" fmla="val 2073"/>
            </a:avLst>
          </a:prstGeom>
          <a:solidFill>
            <a:srgbClr val="16211F"/>
          </a:solidFill>
          <a:ln w="12700">
            <a:solidFill>
              <a:srgbClr val="16211F"/>
            </a:solidFill>
            <a:prstDash val="solid"/>
          </a:ln>
        </p:spPr>
      </p:sp>
      <p:sp>
        <p:nvSpPr>
          <p:cNvPr id="24" name="Text 22"/>
          <p:cNvSpPr txBox="1"/>
          <p:nvPr/>
        </p:nvSpPr>
        <p:spPr>
          <a:xfrm>
            <a:off x="5029200" y="1207008"/>
            <a:ext cx="3429000" cy="228600"/>
          </a:xfrm>
          <a:prstGeom prst="rect">
            <a:avLst/>
          </a:prstGeom>
          <a:noFill/>
          <a:ln/>
        </p:spPr>
        <p:txBody>
          <a:bodyPr wrap="square" lIns="0" tIns="0" rIns="0" bIns="0" rtlCol="0" anchor="ctr"/>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CODE SNIPPET</a:t>
            </a:r>
            <a:endParaRPr lang="en-US" sz="1000" dirty="0"/>
          </a:p>
        </p:txBody>
      </p:sp>
      <p:sp>
        <p:nvSpPr>
          <p:cNvPr id="25" name="Text 23"/>
          <p:cNvSpPr txBox="1"/>
          <p:nvPr/>
        </p:nvSpPr>
        <p:spPr>
          <a:xfrm>
            <a:off x="5029200" y="1463040"/>
            <a:ext cx="3429000" cy="32004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SYSTEM_PROMPT + extract()</a:t>
            </a:r>
            <a:endParaRPr lang="en-US" sz="1300" dirty="0"/>
          </a:p>
        </p:txBody>
      </p:sp>
      <p:sp>
        <p:nvSpPr>
          <p:cNvPr id="26" name="Text 24"/>
          <p:cNvSpPr txBox="1"/>
          <p:nvPr/>
        </p:nvSpPr>
        <p:spPr>
          <a:xfrm>
            <a:off x="5029200" y="1773936"/>
            <a:ext cx="3429000" cy="228600"/>
          </a:xfrm>
          <a:prstGeom prst="rect">
            <a:avLst/>
          </a:prstGeom>
          <a:noFill/>
          <a:ln/>
        </p:spPr>
        <p:txBody>
          <a:bodyPr wrap="square" lIns="0" tIns="0" rIns="0" bIns="0" rtlCol="0" anchor="ctr"/>
          <a:lstStyle/>
          <a:p>
            <a:pPr indent="0" marL="0">
              <a:buNone/>
            </a:pPr>
            <a:r>
              <a:rPr lang="en-US" sz="1000" dirty="0">
                <a:solidFill>
                  <a:schemeClr val="accent5"/>
                </a:solidFill>
                <a:latin typeface="Courier New" pitchFamily="34" charset="0"/>
                <a:ea typeface="Courier New" pitchFamily="34" charset="-122"/>
                <a:cs typeface="Courier New" pitchFamily="34" charset="-120"/>
              </a:rPr>
              <a:t>backend/tally/extraction/prompt.py</a:t>
            </a:r>
            <a:endParaRPr lang="en-US" sz="1000" dirty="0"/>
          </a:p>
        </p:txBody>
      </p:sp>
      <p:sp>
        <p:nvSpPr>
          <p:cNvPr id="27" name="Text 25"/>
          <p:cNvSpPr txBox="1"/>
          <p:nvPr/>
        </p:nvSpPr>
        <p:spPr>
          <a:xfrm>
            <a:off x="5029200" y="2788920"/>
            <a:ext cx="3429000" cy="365760"/>
          </a:xfrm>
          <a:prstGeom prst="rect">
            <a:avLst/>
          </a:prstGeom>
          <a:noFill/>
          <a:ln/>
        </p:spPr>
        <p:txBody>
          <a:bodyPr wrap="square" lIns="0" tIns="0" rIns="0" bIns="0" rtlCol="0" anchor="ctr"/>
          <a:lstStyle/>
          <a:p>
            <a:pPr algn="ctr" indent="0" marL="0">
              <a:buNone/>
            </a:pPr>
            <a:r>
              <a:rPr lang="en-US" sz="1100" i="1" dirty="0">
                <a:solidFill>
                  <a:schemeClr val="accent4"/>
                </a:solidFill>
                <a:latin typeface="Calibri" pitchFamily="34" charset="0"/>
                <a:ea typeface="Calibri" pitchFamily="34" charset="-122"/>
                <a:cs typeface="Calibri" pitchFamily="34" charset="-120"/>
              </a:rPr>
              <a:t>Paste code screenshot here after clean-up</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Step 4 · Validate: don't trust the LLM</a:t>
            </a:r>
            <a:endParaRPr lang="en-US" sz="3000" dirty="0"/>
          </a:p>
        </p:txBody>
      </p:sp>
      <p:sp>
        <p:nvSpPr>
          <p:cNvPr id="3" name="function chip"/>
          <p:cNvSpPr/>
          <p:nvPr/>
        </p:nvSpPr>
        <p:spPr>
          <a:xfrm>
            <a:off x="457200" y="1024128"/>
            <a:ext cx="4069080" cy="384048"/>
          </a:xfrm>
          <a:prstGeom prst="roundRect">
            <a:avLst>
              <a:gd name="adj" fmla="val 19048"/>
            </a:avLst>
          </a:prstGeom>
          <a:solidFill>
            <a:srgbClr val="EEF4F0"/>
          </a:solidFill>
          <a:ln w="12700">
            <a:solidFill>
              <a:srgbClr val="EEF4F0"/>
            </a:solidFill>
            <a:prstDash val="solid"/>
          </a:ln>
        </p:spPr>
      </p:sp>
      <p:sp>
        <p:nvSpPr>
          <p:cNvPr id="4" name="Text 2"/>
          <p:cNvSpPr txBox="1"/>
          <p:nvPr/>
        </p:nvSpPr>
        <p:spPr>
          <a:xfrm>
            <a:off x="594360" y="1024128"/>
            <a:ext cx="3840480" cy="384048"/>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ExtractionPipeline.run(text, posted_at)</a:t>
            </a:r>
            <a:endParaRPr lang="en-US" sz="1200" dirty="0"/>
          </a:p>
        </p:txBody>
      </p:sp>
      <p:sp>
        <p:nvSpPr>
          <p:cNvPr id="5" name="Text 3"/>
          <p:cNvSpPr txBox="1"/>
          <p:nvPr/>
        </p:nvSpPr>
        <p:spPr>
          <a:xfrm>
            <a:off x="457200" y="1536192"/>
            <a:ext cx="4069080" cy="457200"/>
          </a:xfrm>
          <a:prstGeom prst="rect">
            <a:avLst/>
          </a:prstGeom>
          <a:noFill/>
          <a:ln/>
        </p:spPr>
        <p:txBody>
          <a:bodyPr wrap="square" lIns="0" tIns="0" rIns="0" bIns="0" rtlCol="0" anchor="t"/>
          <a:lstStyle/>
          <a:p>
            <a:pPr indent="0" marL="0">
              <a:buNone/>
            </a:pPr>
            <a:r>
              <a:rPr lang="en-US" sz="1400" i="1" dirty="0">
                <a:solidFill>
                  <a:schemeClr val="accent4"/>
                </a:solidFill>
                <a:latin typeface="Calibri" pitchFamily="34" charset="0"/>
                <a:ea typeface="Calibri" pitchFamily="34" charset="-122"/>
                <a:cs typeface="Calibri" pitchFamily="34" charset="-120"/>
              </a:rPr>
              <a:t>LLM output is untrusted input.</a:t>
            </a:r>
            <a:endParaRPr lang="en-US" sz="1400" dirty="0"/>
          </a:p>
        </p:txBody>
      </p:sp>
      <p:sp>
        <p:nvSpPr>
          <p:cNvPr id="6" name="Text 4"/>
          <p:cNvSpPr txBox="1"/>
          <p:nvPr/>
        </p:nvSpPr>
        <p:spPr>
          <a:xfrm>
            <a:off x="457200" y="2057400"/>
            <a:ext cx="406908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Schema-validated (Pydantic); malformed or contradictory output goes to human review</a:t>
            </a:r>
            <a:endParaRPr lang="en-US" sz="1300" dirty="0"/>
          </a:p>
          <a:p>
            <a:pPr marL="177800" indent="-177800">
              <a:spcAft>
                <a:spcPts val="800"/>
              </a:spcAft>
              <a:buSzPct val="100000"/>
              <a:buChar char="•"/>
            </a:pPr>
            <a:r>
              <a:rPr lang="en-US" sz="1300" dirty="0">
                <a:solidFill>
                  <a:schemeClr val="tx1"/>
                </a:solidFill>
              </a:rPr>
              <a:t>Ticker must exist: symbol list → company alias → real price history</a:t>
            </a:r>
            <a:endParaRPr lang="en-US" sz="1300" dirty="0"/>
          </a:p>
          <a:p>
            <a:pPr marL="177800" indent="-177800">
              <a:spcAft>
                <a:spcPts val="800"/>
              </a:spcAft>
              <a:buSzPct val="100000"/>
              <a:buChar char="•"/>
            </a:pPr>
            <a:r>
              <a:rPr lang="en-US" sz="1300" dirty="0">
                <a:solidFill>
                  <a:schemeClr val="tx1"/>
                </a:solidFill>
              </a:rPr>
              <a:t>If the LLM says “no idea” but the keyword check disagrees, a human decides (caught a real bearish HOOD post)</a:t>
            </a:r>
            <a:endParaRPr lang="en-US" sz="1300" dirty="0"/>
          </a:p>
        </p:txBody>
      </p:sp>
      <p:sp>
        <p:nvSpPr>
          <p:cNvPr id="7" name="Shape 5"/>
          <p:cNvSpPr/>
          <p:nvPr/>
        </p:nvSpPr>
        <p:spPr>
          <a:xfrm>
            <a:off x="457200" y="4315968"/>
            <a:ext cx="237744" cy="237744"/>
          </a:xfrm>
          <a:prstGeom prst="ellipse">
            <a:avLst/>
          </a:prstGeom>
          <a:solidFill>
            <a:srgbClr val="A9C7BA"/>
          </a:solidFill>
          <a:ln w="12700">
            <a:solidFill>
              <a:srgbClr val="A9C7BA"/>
            </a:solidFill>
            <a:prstDash val="solid"/>
          </a:ln>
        </p:spPr>
      </p:sp>
      <p:sp>
        <p:nvSpPr>
          <p:cNvPr id="8" name="Text 6"/>
          <p:cNvSpPr txBox="1"/>
          <p:nvPr/>
        </p:nvSpPr>
        <p:spPr>
          <a:xfrm>
            <a:off x="457200"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1</a:t>
            </a:r>
            <a:endParaRPr lang="en-US" sz="900" dirty="0"/>
          </a:p>
        </p:txBody>
      </p:sp>
      <p:sp>
        <p:nvSpPr>
          <p:cNvPr id="9" name="Shape 7"/>
          <p:cNvSpPr/>
          <p:nvPr/>
        </p:nvSpPr>
        <p:spPr>
          <a:xfrm>
            <a:off x="1024128" y="4315968"/>
            <a:ext cx="237744" cy="237744"/>
          </a:xfrm>
          <a:prstGeom prst="ellipse">
            <a:avLst/>
          </a:prstGeom>
          <a:solidFill>
            <a:srgbClr val="A9C7BA"/>
          </a:solidFill>
          <a:ln w="12700">
            <a:solidFill>
              <a:srgbClr val="A9C7BA"/>
            </a:solidFill>
            <a:prstDash val="solid"/>
          </a:ln>
        </p:spPr>
      </p:sp>
      <p:sp>
        <p:nvSpPr>
          <p:cNvPr id="10" name="Text 8"/>
          <p:cNvSpPr txBox="1"/>
          <p:nvPr/>
        </p:nvSpPr>
        <p:spPr>
          <a:xfrm>
            <a:off x="1024128"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2</a:t>
            </a:r>
            <a:endParaRPr lang="en-US" sz="900" dirty="0"/>
          </a:p>
        </p:txBody>
      </p:sp>
      <p:sp>
        <p:nvSpPr>
          <p:cNvPr id="11" name="Shape 9"/>
          <p:cNvSpPr/>
          <p:nvPr/>
        </p:nvSpPr>
        <p:spPr>
          <a:xfrm>
            <a:off x="1591056" y="4315968"/>
            <a:ext cx="237744" cy="237744"/>
          </a:xfrm>
          <a:prstGeom prst="ellipse">
            <a:avLst/>
          </a:prstGeom>
          <a:solidFill>
            <a:srgbClr val="A9C7BA"/>
          </a:solidFill>
          <a:ln w="12700">
            <a:solidFill>
              <a:srgbClr val="A9C7BA"/>
            </a:solidFill>
            <a:prstDash val="solid"/>
          </a:ln>
        </p:spPr>
      </p:sp>
      <p:sp>
        <p:nvSpPr>
          <p:cNvPr id="12" name="Text 10"/>
          <p:cNvSpPr txBox="1"/>
          <p:nvPr/>
        </p:nvSpPr>
        <p:spPr>
          <a:xfrm>
            <a:off x="1591056"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3</a:t>
            </a:r>
            <a:endParaRPr lang="en-US" sz="900" dirty="0"/>
          </a:p>
        </p:txBody>
      </p:sp>
      <p:sp>
        <p:nvSpPr>
          <p:cNvPr id="13" name="Shape 11"/>
          <p:cNvSpPr/>
          <p:nvPr/>
        </p:nvSpPr>
        <p:spPr>
          <a:xfrm>
            <a:off x="2157984" y="4315968"/>
            <a:ext cx="237744" cy="237744"/>
          </a:xfrm>
          <a:prstGeom prst="ellipse">
            <a:avLst/>
          </a:prstGeom>
          <a:solidFill>
            <a:srgbClr val="1F9D61"/>
          </a:solidFill>
          <a:ln w="12700">
            <a:solidFill>
              <a:srgbClr val="1F9D61"/>
            </a:solidFill>
            <a:prstDash val="solid"/>
          </a:ln>
        </p:spPr>
      </p:sp>
      <p:sp>
        <p:nvSpPr>
          <p:cNvPr id="14" name="Text 12"/>
          <p:cNvSpPr txBox="1"/>
          <p:nvPr/>
        </p:nvSpPr>
        <p:spPr>
          <a:xfrm>
            <a:off x="2157984"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4</a:t>
            </a:r>
            <a:endParaRPr lang="en-US" sz="900" dirty="0"/>
          </a:p>
        </p:txBody>
      </p:sp>
      <p:sp>
        <p:nvSpPr>
          <p:cNvPr id="15" name="Shape 13"/>
          <p:cNvSpPr/>
          <p:nvPr/>
        </p:nvSpPr>
        <p:spPr>
          <a:xfrm>
            <a:off x="2724912" y="4315968"/>
            <a:ext cx="237744" cy="237744"/>
          </a:xfrm>
          <a:prstGeom prst="ellipse">
            <a:avLst/>
          </a:prstGeom>
          <a:solidFill>
            <a:srgbClr val="DDE6E2"/>
          </a:solidFill>
          <a:ln w="12700">
            <a:solidFill>
              <a:srgbClr val="DDE6E2"/>
            </a:solidFill>
            <a:prstDash val="solid"/>
          </a:ln>
        </p:spPr>
      </p:sp>
      <p:sp>
        <p:nvSpPr>
          <p:cNvPr id="16" name="Text 14"/>
          <p:cNvSpPr txBox="1"/>
          <p:nvPr/>
        </p:nvSpPr>
        <p:spPr>
          <a:xfrm>
            <a:off x="2724912"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5</a:t>
            </a:r>
            <a:endParaRPr lang="en-US" sz="900" dirty="0"/>
          </a:p>
        </p:txBody>
      </p:sp>
      <p:sp>
        <p:nvSpPr>
          <p:cNvPr id="17" name="Shape 15"/>
          <p:cNvSpPr/>
          <p:nvPr/>
        </p:nvSpPr>
        <p:spPr>
          <a:xfrm>
            <a:off x="3291840" y="4315968"/>
            <a:ext cx="237744" cy="237744"/>
          </a:xfrm>
          <a:prstGeom prst="ellipse">
            <a:avLst/>
          </a:prstGeom>
          <a:solidFill>
            <a:srgbClr val="DDE6E2"/>
          </a:solidFill>
          <a:ln w="12700">
            <a:solidFill>
              <a:srgbClr val="DDE6E2"/>
            </a:solidFill>
            <a:prstDash val="solid"/>
          </a:ln>
        </p:spPr>
      </p:sp>
      <p:sp>
        <p:nvSpPr>
          <p:cNvPr id="18" name="Text 16"/>
          <p:cNvSpPr txBox="1"/>
          <p:nvPr/>
        </p:nvSpPr>
        <p:spPr>
          <a:xfrm>
            <a:off x="3291840"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6</a:t>
            </a:r>
            <a:endParaRPr lang="en-US" sz="900" dirty="0"/>
          </a:p>
        </p:txBody>
      </p:sp>
      <p:sp>
        <p:nvSpPr>
          <p:cNvPr id="19" name="Shape 17"/>
          <p:cNvSpPr/>
          <p:nvPr/>
        </p:nvSpPr>
        <p:spPr>
          <a:xfrm>
            <a:off x="3858768" y="4315968"/>
            <a:ext cx="237744" cy="237744"/>
          </a:xfrm>
          <a:prstGeom prst="ellipse">
            <a:avLst/>
          </a:prstGeom>
          <a:solidFill>
            <a:srgbClr val="DDE6E2"/>
          </a:solidFill>
          <a:ln w="12700">
            <a:solidFill>
              <a:srgbClr val="DDE6E2"/>
            </a:solidFill>
            <a:prstDash val="solid"/>
          </a:ln>
        </p:spPr>
      </p:sp>
      <p:sp>
        <p:nvSpPr>
          <p:cNvPr id="20" name="Text 18"/>
          <p:cNvSpPr txBox="1"/>
          <p:nvPr/>
        </p:nvSpPr>
        <p:spPr>
          <a:xfrm>
            <a:off x="3858768"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7</a:t>
            </a:r>
            <a:endParaRPr lang="en-US" sz="900" dirty="0"/>
          </a:p>
        </p:txBody>
      </p:sp>
      <p:sp>
        <p:nvSpPr>
          <p:cNvPr id="21" name="code placeholder"/>
          <p:cNvSpPr/>
          <p:nvPr/>
        </p:nvSpPr>
        <p:spPr>
          <a:xfrm>
            <a:off x="4800600" y="1024128"/>
            <a:ext cx="3886200" cy="3529584"/>
          </a:xfrm>
          <a:prstGeom prst="roundRect">
            <a:avLst>
              <a:gd name="adj" fmla="val 2073"/>
            </a:avLst>
          </a:prstGeom>
          <a:solidFill>
            <a:srgbClr val="16211F"/>
          </a:solidFill>
          <a:ln w="12700">
            <a:solidFill>
              <a:srgbClr val="16211F"/>
            </a:solidFill>
            <a:prstDash val="solid"/>
          </a:ln>
        </p:spPr>
      </p:sp>
      <p:sp>
        <p:nvSpPr>
          <p:cNvPr id="22" name="Text 20"/>
          <p:cNvSpPr txBox="1"/>
          <p:nvPr/>
        </p:nvSpPr>
        <p:spPr>
          <a:xfrm>
            <a:off x="5029200" y="1207008"/>
            <a:ext cx="3429000" cy="228600"/>
          </a:xfrm>
          <a:prstGeom prst="rect">
            <a:avLst/>
          </a:prstGeom>
          <a:noFill/>
          <a:ln/>
        </p:spPr>
        <p:txBody>
          <a:bodyPr wrap="square" lIns="0" tIns="0" rIns="0" bIns="0" rtlCol="0" anchor="ctr"/>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CODE SNIPPET</a:t>
            </a:r>
            <a:endParaRPr lang="en-US" sz="1000" dirty="0"/>
          </a:p>
        </p:txBody>
      </p:sp>
      <p:sp>
        <p:nvSpPr>
          <p:cNvPr id="23" name="Text 21"/>
          <p:cNvSpPr txBox="1"/>
          <p:nvPr/>
        </p:nvSpPr>
        <p:spPr>
          <a:xfrm>
            <a:off x="5029200" y="1463040"/>
            <a:ext cx="3429000" cy="32004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ExtractionPipeline.run()</a:t>
            </a:r>
            <a:endParaRPr lang="en-US" sz="1300" dirty="0"/>
          </a:p>
        </p:txBody>
      </p:sp>
      <p:sp>
        <p:nvSpPr>
          <p:cNvPr id="24" name="Text 22"/>
          <p:cNvSpPr txBox="1"/>
          <p:nvPr/>
        </p:nvSpPr>
        <p:spPr>
          <a:xfrm>
            <a:off x="5029200" y="1773936"/>
            <a:ext cx="3429000" cy="228600"/>
          </a:xfrm>
          <a:prstGeom prst="rect">
            <a:avLst/>
          </a:prstGeom>
          <a:noFill/>
          <a:ln/>
        </p:spPr>
        <p:txBody>
          <a:bodyPr wrap="square" lIns="0" tIns="0" rIns="0" bIns="0" rtlCol="0" anchor="ctr"/>
          <a:lstStyle/>
          <a:p>
            <a:pPr indent="0" marL="0">
              <a:buNone/>
            </a:pPr>
            <a:r>
              <a:rPr lang="en-US" sz="1000" dirty="0">
                <a:solidFill>
                  <a:schemeClr val="accent5"/>
                </a:solidFill>
                <a:latin typeface="Courier New" pitchFamily="34" charset="0"/>
                <a:ea typeface="Courier New" pitchFamily="34" charset="-122"/>
                <a:cs typeface="Courier New" pitchFamily="34" charset="-120"/>
              </a:rPr>
              <a:t>backend/tally/extraction/pipeline.py</a:t>
            </a:r>
            <a:endParaRPr lang="en-US" sz="1000" dirty="0"/>
          </a:p>
        </p:txBody>
      </p:sp>
      <p:sp>
        <p:nvSpPr>
          <p:cNvPr id="25" name="Text 23"/>
          <p:cNvSpPr txBox="1"/>
          <p:nvPr/>
        </p:nvSpPr>
        <p:spPr>
          <a:xfrm>
            <a:off x="5029200" y="2788920"/>
            <a:ext cx="3429000" cy="365760"/>
          </a:xfrm>
          <a:prstGeom prst="rect">
            <a:avLst/>
          </a:prstGeom>
          <a:noFill/>
          <a:ln/>
        </p:spPr>
        <p:txBody>
          <a:bodyPr wrap="square" lIns="0" tIns="0" rIns="0" bIns="0" rtlCol="0" anchor="ctr"/>
          <a:lstStyle/>
          <a:p>
            <a:pPr algn="ctr" indent="0" marL="0">
              <a:buNone/>
            </a:pPr>
            <a:r>
              <a:rPr lang="en-US" sz="1100" i="1" dirty="0">
                <a:solidFill>
                  <a:schemeClr val="accent4"/>
                </a:solidFill>
                <a:latin typeface="Calibri" pitchFamily="34" charset="0"/>
                <a:ea typeface="Calibri" pitchFamily="34" charset="-122"/>
                <a:cs typeface="Calibri" pitchFamily="34" charset="-120"/>
              </a:rPr>
              <a:t>Paste code screenshot here after clean-up</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Step 5 · Mark to market</a:t>
            </a:r>
            <a:endParaRPr lang="en-US" sz="3000" dirty="0"/>
          </a:p>
        </p:txBody>
      </p:sp>
      <p:sp>
        <p:nvSpPr>
          <p:cNvPr id="3" name="function chip"/>
          <p:cNvSpPr/>
          <p:nvPr/>
        </p:nvSpPr>
        <p:spPr>
          <a:xfrm>
            <a:off x="457200" y="1024128"/>
            <a:ext cx="4069080" cy="384048"/>
          </a:xfrm>
          <a:prstGeom prst="roundRect">
            <a:avLst>
              <a:gd name="adj" fmla="val 19048"/>
            </a:avLst>
          </a:prstGeom>
          <a:solidFill>
            <a:srgbClr val="EEF4F0"/>
          </a:solidFill>
          <a:ln w="12700">
            <a:solidFill>
              <a:srgbClr val="EEF4F0"/>
            </a:solidFill>
            <a:prstDash val="solid"/>
          </a:ln>
        </p:spPr>
      </p:sp>
      <p:sp>
        <p:nvSpPr>
          <p:cNvPr id="4" name="Text 2"/>
          <p:cNvSpPr txBox="1"/>
          <p:nvPr/>
        </p:nvSpPr>
        <p:spPr>
          <a:xfrm>
            <a:off x="594360" y="1024128"/>
            <a:ext cx="3840480" cy="384048"/>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mark_idea(idea, bars, bench_bars, ...)</a:t>
            </a:r>
            <a:endParaRPr lang="en-US" sz="1200" dirty="0"/>
          </a:p>
        </p:txBody>
      </p:sp>
      <p:sp>
        <p:nvSpPr>
          <p:cNvPr id="5" name="Text 3"/>
          <p:cNvSpPr txBox="1"/>
          <p:nvPr/>
        </p:nvSpPr>
        <p:spPr>
          <a:xfrm>
            <a:off x="457200" y="1536192"/>
            <a:ext cx="4069080" cy="457200"/>
          </a:xfrm>
          <a:prstGeom prst="rect">
            <a:avLst/>
          </a:prstGeom>
          <a:noFill/>
          <a:ln/>
        </p:spPr>
        <p:txBody>
          <a:bodyPr wrap="square" lIns="0" tIns="0" rIns="0" bIns="0" rtlCol="0" anchor="t"/>
          <a:lstStyle/>
          <a:p>
            <a:pPr indent="0" marL="0">
              <a:buNone/>
            </a:pPr>
            <a:r>
              <a:rPr lang="en-US" sz="1400" i="1" dirty="0">
                <a:solidFill>
                  <a:schemeClr val="accent4"/>
                </a:solidFill>
                <a:latin typeface="Calibri" pitchFamily="34" charset="0"/>
                <a:ea typeface="Calibri" pitchFamily="34" charset="-122"/>
                <a:cs typeface="Calibri" pitchFamily="34" charset="-120"/>
              </a:rPr>
              <a:t>Compare the call with what actually happened.</a:t>
            </a:r>
            <a:endParaRPr lang="en-US" sz="1400" dirty="0"/>
          </a:p>
        </p:txBody>
      </p:sp>
      <p:sp>
        <p:nvSpPr>
          <p:cNvPr id="6" name="Text 4"/>
          <p:cNvSpPr txBox="1"/>
          <p:nvPr/>
        </p:nvSpPr>
        <p:spPr>
          <a:xfrm>
            <a:off x="457200" y="2057400"/>
            <a:ext cx="406908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Entry = next market OPEN after we received it, in the stock's own exchange timezone (no lookahead)</a:t>
            </a:r>
            <a:endParaRPr lang="en-US" sz="1300" dirty="0"/>
          </a:p>
          <a:p>
            <a:pPr marL="177800" indent="-177800">
              <a:spcAft>
                <a:spcPts val="800"/>
              </a:spcAft>
              <a:buSzPct val="100000"/>
              <a:buChar char="•"/>
            </a:pPr>
            <a:r>
              <a:rPr lang="en-US" sz="1300" dirty="0">
                <a:solidFill>
                  <a:schemeClr val="tx1"/>
                </a:solidFill>
              </a:rPr>
              <a:t>Excess return = direction × (stock − benchmark): a bull market doesn't make everyone look smart</a:t>
            </a:r>
            <a:endParaRPr lang="en-US" sz="1300" dirty="0"/>
          </a:p>
          <a:p>
            <a:pPr marL="177800" indent="-177800">
              <a:spcAft>
                <a:spcPts val="800"/>
              </a:spcAft>
              <a:buSzPct val="100000"/>
              <a:buChar char="•"/>
            </a:pPr>
            <a:r>
              <a:rPr lang="en-US" sz="1300" dirty="0">
                <a:solidFill>
                  <a:schemeClr val="tx1"/>
                </a:solidFill>
              </a:rPr>
              <a:t>Delisted or missing data → “unscorable”, never silently dropped (survivorship bias)</a:t>
            </a:r>
            <a:endParaRPr lang="en-US" sz="1300" dirty="0"/>
          </a:p>
        </p:txBody>
      </p:sp>
      <p:sp>
        <p:nvSpPr>
          <p:cNvPr id="7" name="Shape 5"/>
          <p:cNvSpPr/>
          <p:nvPr/>
        </p:nvSpPr>
        <p:spPr>
          <a:xfrm>
            <a:off x="457200" y="4315968"/>
            <a:ext cx="237744" cy="237744"/>
          </a:xfrm>
          <a:prstGeom prst="ellipse">
            <a:avLst/>
          </a:prstGeom>
          <a:solidFill>
            <a:srgbClr val="A9C7BA"/>
          </a:solidFill>
          <a:ln w="12700">
            <a:solidFill>
              <a:srgbClr val="A9C7BA"/>
            </a:solidFill>
            <a:prstDash val="solid"/>
          </a:ln>
        </p:spPr>
      </p:sp>
      <p:sp>
        <p:nvSpPr>
          <p:cNvPr id="8" name="Text 6"/>
          <p:cNvSpPr txBox="1"/>
          <p:nvPr/>
        </p:nvSpPr>
        <p:spPr>
          <a:xfrm>
            <a:off x="457200"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1</a:t>
            </a:r>
            <a:endParaRPr lang="en-US" sz="900" dirty="0"/>
          </a:p>
        </p:txBody>
      </p:sp>
      <p:sp>
        <p:nvSpPr>
          <p:cNvPr id="9" name="Shape 7"/>
          <p:cNvSpPr/>
          <p:nvPr/>
        </p:nvSpPr>
        <p:spPr>
          <a:xfrm>
            <a:off x="1024128" y="4315968"/>
            <a:ext cx="237744" cy="237744"/>
          </a:xfrm>
          <a:prstGeom prst="ellipse">
            <a:avLst/>
          </a:prstGeom>
          <a:solidFill>
            <a:srgbClr val="A9C7BA"/>
          </a:solidFill>
          <a:ln w="12700">
            <a:solidFill>
              <a:srgbClr val="A9C7BA"/>
            </a:solidFill>
            <a:prstDash val="solid"/>
          </a:ln>
        </p:spPr>
      </p:sp>
      <p:sp>
        <p:nvSpPr>
          <p:cNvPr id="10" name="Text 8"/>
          <p:cNvSpPr txBox="1"/>
          <p:nvPr/>
        </p:nvSpPr>
        <p:spPr>
          <a:xfrm>
            <a:off x="1024128"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2</a:t>
            </a:r>
            <a:endParaRPr lang="en-US" sz="900" dirty="0"/>
          </a:p>
        </p:txBody>
      </p:sp>
      <p:sp>
        <p:nvSpPr>
          <p:cNvPr id="11" name="Shape 9"/>
          <p:cNvSpPr/>
          <p:nvPr/>
        </p:nvSpPr>
        <p:spPr>
          <a:xfrm>
            <a:off x="1591056" y="4315968"/>
            <a:ext cx="237744" cy="237744"/>
          </a:xfrm>
          <a:prstGeom prst="ellipse">
            <a:avLst/>
          </a:prstGeom>
          <a:solidFill>
            <a:srgbClr val="A9C7BA"/>
          </a:solidFill>
          <a:ln w="12700">
            <a:solidFill>
              <a:srgbClr val="A9C7BA"/>
            </a:solidFill>
            <a:prstDash val="solid"/>
          </a:ln>
        </p:spPr>
      </p:sp>
      <p:sp>
        <p:nvSpPr>
          <p:cNvPr id="12" name="Text 10"/>
          <p:cNvSpPr txBox="1"/>
          <p:nvPr/>
        </p:nvSpPr>
        <p:spPr>
          <a:xfrm>
            <a:off x="1591056"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3</a:t>
            </a:r>
            <a:endParaRPr lang="en-US" sz="900" dirty="0"/>
          </a:p>
        </p:txBody>
      </p:sp>
      <p:sp>
        <p:nvSpPr>
          <p:cNvPr id="13" name="Shape 11"/>
          <p:cNvSpPr/>
          <p:nvPr/>
        </p:nvSpPr>
        <p:spPr>
          <a:xfrm>
            <a:off x="2157984" y="4315968"/>
            <a:ext cx="237744" cy="237744"/>
          </a:xfrm>
          <a:prstGeom prst="ellipse">
            <a:avLst/>
          </a:prstGeom>
          <a:solidFill>
            <a:srgbClr val="A9C7BA"/>
          </a:solidFill>
          <a:ln w="12700">
            <a:solidFill>
              <a:srgbClr val="A9C7BA"/>
            </a:solidFill>
            <a:prstDash val="solid"/>
          </a:ln>
        </p:spPr>
      </p:sp>
      <p:sp>
        <p:nvSpPr>
          <p:cNvPr id="14" name="Text 12"/>
          <p:cNvSpPr txBox="1"/>
          <p:nvPr/>
        </p:nvSpPr>
        <p:spPr>
          <a:xfrm>
            <a:off x="2157984"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4</a:t>
            </a:r>
            <a:endParaRPr lang="en-US" sz="900" dirty="0"/>
          </a:p>
        </p:txBody>
      </p:sp>
      <p:sp>
        <p:nvSpPr>
          <p:cNvPr id="15" name="Shape 13"/>
          <p:cNvSpPr/>
          <p:nvPr/>
        </p:nvSpPr>
        <p:spPr>
          <a:xfrm>
            <a:off x="2724912" y="4315968"/>
            <a:ext cx="237744" cy="237744"/>
          </a:xfrm>
          <a:prstGeom prst="ellipse">
            <a:avLst/>
          </a:prstGeom>
          <a:solidFill>
            <a:srgbClr val="1F9D61"/>
          </a:solidFill>
          <a:ln w="12700">
            <a:solidFill>
              <a:srgbClr val="1F9D61"/>
            </a:solidFill>
            <a:prstDash val="solid"/>
          </a:ln>
        </p:spPr>
      </p:sp>
      <p:sp>
        <p:nvSpPr>
          <p:cNvPr id="16" name="Text 14"/>
          <p:cNvSpPr txBox="1"/>
          <p:nvPr/>
        </p:nvSpPr>
        <p:spPr>
          <a:xfrm>
            <a:off x="2724912"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5</a:t>
            </a:r>
            <a:endParaRPr lang="en-US" sz="900" dirty="0"/>
          </a:p>
        </p:txBody>
      </p:sp>
      <p:sp>
        <p:nvSpPr>
          <p:cNvPr id="17" name="Shape 15"/>
          <p:cNvSpPr/>
          <p:nvPr/>
        </p:nvSpPr>
        <p:spPr>
          <a:xfrm>
            <a:off x="3291840" y="4315968"/>
            <a:ext cx="237744" cy="237744"/>
          </a:xfrm>
          <a:prstGeom prst="ellipse">
            <a:avLst/>
          </a:prstGeom>
          <a:solidFill>
            <a:srgbClr val="DDE6E2"/>
          </a:solidFill>
          <a:ln w="12700">
            <a:solidFill>
              <a:srgbClr val="DDE6E2"/>
            </a:solidFill>
            <a:prstDash val="solid"/>
          </a:ln>
        </p:spPr>
      </p:sp>
      <p:sp>
        <p:nvSpPr>
          <p:cNvPr id="18" name="Text 16"/>
          <p:cNvSpPr txBox="1"/>
          <p:nvPr/>
        </p:nvSpPr>
        <p:spPr>
          <a:xfrm>
            <a:off x="3291840"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6</a:t>
            </a:r>
            <a:endParaRPr lang="en-US" sz="900" dirty="0"/>
          </a:p>
        </p:txBody>
      </p:sp>
      <p:sp>
        <p:nvSpPr>
          <p:cNvPr id="19" name="Shape 17"/>
          <p:cNvSpPr/>
          <p:nvPr/>
        </p:nvSpPr>
        <p:spPr>
          <a:xfrm>
            <a:off x="3858768" y="4315968"/>
            <a:ext cx="237744" cy="237744"/>
          </a:xfrm>
          <a:prstGeom prst="ellipse">
            <a:avLst/>
          </a:prstGeom>
          <a:solidFill>
            <a:srgbClr val="DDE6E2"/>
          </a:solidFill>
          <a:ln w="12700">
            <a:solidFill>
              <a:srgbClr val="DDE6E2"/>
            </a:solidFill>
            <a:prstDash val="solid"/>
          </a:ln>
        </p:spPr>
      </p:sp>
      <p:sp>
        <p:nvSpPr>
          <p:cNvPr id="20" name="Text 18"/>
          <p:cNvSpPr txBox="1"/>
          <p:nvPr/>
        </p:nvSpPr>
        <p:spPr>
          <a:xfrm>
            <a:off x="3858768"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7</a:t>
            </a:r>
            <a:endParaRPr lang="en-US" sz="900" dirty="0"/>
          </a:p>
        </p:txBody>
      </p:sp>
      <p:sp>
        <p:nvSpPr>
          <p:cNvPr id="21" name="code placeholder"/>
          <p:cNvSpPr/>
          <p:nvPr/>
        </p:nvSpPr>
        <p:spPr>
          <a:xfrm>
            <a:off x="4800600" y="1024128"/>
            <a:ext cx="3886200" cy="3529584"/>
          </a:xfrm>
          <a:prstGeom prst="roundRect">
            <a:avLst>
              <a:gd name="adj" fmla="val 2073"/>
            </a:avLst>
          </a:prstGeom>
          <a:solidFill>
            <a:srgbClr val="16211F"/>
          </a:solidFill>
          <a:ln w="12700">
            <a:solidFill>
              <a:srgbClr val="16211F"/>
            </a:solidFill>
            <a:prstDash val="solid"/>
          </a:ln>
        </p:spPr>
      </p:sp>
      <p:sp>
        <p:nvSpPr>
          <p:cNvPr id="22" name="Text 20"/>
          <p:cNvSpPr txBox="1"/>
          <p:nvPr/>
        </p:nvSpPr>
        <p:spPr>
          <a:xfrm>
            <a:off x="5029200" y="1207008"/>
            <a:ext cx="3429000" cy="228600"/>
          </a:xfrm>
          <a:prstGeom prst="rect">
            <a:avLst/>
          </a:prstGeom>
          <a:noFill/>
          <a:ln/>
        </p:spPr>
        <p:txBody>
          <a:bodyPr wrap="square" lIns="0" tIns="0" rIns="0" bIns="0" rtlCol="0" anchor="ctr"/>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CODE SNIPPET</a:t>
            </a:r>
            <a:endParaRPr lang="en-US" sz="1000" dirty="0"/>
          </a:p>
        </p:txBody>
      </p:sp>
      <p:sp>
        <p:nvSpPr>
          <p:cNvPr id="23" name="Text 21"/>
          <p:cNvSpPr txBox="1"/>
          <p:nvPr/>
        </p:nvSpPr>
        <p:spPr>
          <a:xfrm>
            <a:off x="5029200" y="1463040"/>
            <a:ext cx="3429000" cy="32004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mark_idea()</a:t>
            </a:r>
            <a:endParaRPr lang="en-US" sz="1300" dirty="0"/>
          </a:p>
        </p:txBody>
      </p:sp>
      <p:sp>
        <p:nvSpPr>
          <p:cNvPr id="24" name="Text 22"/>
          <p:cNvSpPr txBox="1"/>
          <p:nvPr/>
        </p:nvSpPr>
        <p:spPr>
          <a:xfrm>
            <a:off x="5029200" y="1773936"/>
            <a:ext cx="3429000" cy="228600"/>
          </a:xfrm>
          <a:prstGeom prst="rect">
            <a:avLst/>
          </a:prstGeom>
          <a:noFill/>
          <a:ln/>
        </p:spPr>
        <p:txBody>
          <a:bodyPr wrap="square" lIns="0" tIns="0" rIns="0" bIns="0" rtlCol="0" anchor="ctr"/>
          <a:lstStyle/>
          <a:p>
            <a:pPr indent="0" marL="0">
              <a:buNone/>
            </a:pPr>
            <a:r>
              <a:rPr lang="en-US" sz="1000" dirty="0">
                <a:solidFill>
                  <a:schemeClr val="accent5"/>
                </a:solidFill>
                <a:latin typeface="Courier New" pitchFamily="34" charset="0"/>
                <a:ea typeface="Courier New" pitchFamily="34" charset="-122"/>
                <a:cs typeface="Courier New" pitchFamily="34" charset="-120"/>
              </a:rPr>
              <a:t>backend/tally/scoring/marking.py</a:t>
            </a:r>
            <a:endParaRPr lang="en-US" sz="1000" dirty="0"/>
          </a:p>
        </p:txBody>
      </p:sp>
      <p:sp>
        <p:nvSpPr>
          <p:cNvPr id="25" name="Text 23"/>
          <p:cNvSpPr txBox="1"/>
          <p:nvPr/>
        </p:nvSpPr>
        <p:spPr>
          <a:xfrm>
            <a:off x="5029200" y="2788920"/>
            <a:ext cx="3429000" cy="365760"/>
          </a:xfrm>
          <a:prstGeom prst="rect">
            <a:avLst/>
          </a:prstGeom>
          <a:noFill/>
          <a:ln/>
        </p:spPr>
        <p:txBody>
          <a:bodyPr wrap="square" lIns="0" tIns="0" rIns="0" bIns="0" rtlCol="0" anchor="ctr"/>
          <a:lstStyle/>
          <a:p>
            <a:pPr algn="ctr" indent="0" marL="0">
              <a:buNone/>
            </a:pPr>
            <a:r>
              <a:rPr lang="en-US" sz="1100" i="1" dirty="0">
                <a:solidFill>
                  <a:schemeClr val="accent4"/>
                </a:solidFill>
                <a:latin typeface="Calibri" pitchFamily="34" charset="0"/>
                <a:ea typeface="Calibri" pitchFamily="34" charset="-122"/>
                <a:cs typeface="Calibri" pitchFamily="34" charset="-120"/>
              </a:rPr>
              <a:t>Paste code screenshot here after clean-up</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Step 6 · Score each source</a:t>
            </a:r>
            <a:endParaRPr lang="en-US" sz="3000" dirty="0"/>
          </a:p>
        </p:txBody>
      </p:sp>
      <p:sp>
        <p:nvSpPr>
          <p:cNvPr id="3" name="function chip"/>
          <p:cNvSpPr/>
          <p:nvPr/>
        </p:nvSpPr>
        <p:spPr>
          <a:xfrm>
            <a:off x="457200" y="1024128"/>
            <a:ext cx="4069080" cy="384048"/>
          </a:xfrm>
          <a:prstGeom prst="roundRect">
            <a:avLst>
              <a:gd name="adj" fmla="val 19048"/>
            </a:avLst>
          </a:prstGeom>
          <a:solidFill>
            <a:srgbClr val="EEF4F0"/>
          </a:solidFill>
          <a:ln w="12700">
            <a:solidFill>
              <a:srgbClr val="EEF4F0"/>
            </a:solidFill>
            <a:prstDash val="solid"/>
          </a:ln>
        </p:spPr>
      </p:sp>
      <p:sp>
        <p:nvSpPr>
          <p:cNvPr id="4" name="Text 2"/>
          <p:cNvSpPr txBox="1"/>
          <p:nvPr/>
        </p:nvSpPr>
        <p:spPr>
          <a:xfrm>
            <a:off x="594360" y="1024128"/>
            <a:ext cx="3840480" cy="384048"/>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estimate_skill(returns_by_contributor)</a:t>
            </a:r>
            <a:endParaRPr lang="en-US" sz="1200" dirty="0"/>
          </a:p>
        </p:txBody>
      </p:sp>
      <p:sp>
        <p:nvSpPr>
          <p:cNvPr id="5" name="Text 3"/>
          <p:cNvSpPr txBox="1"/>
          <p:nvPr/>
        </p:nvSpPr>
        <p:spPr>
          <a:xfrm>
            <a:off x="457200" y="1536192"/>
            <a:ext cx="4069080" cy="457200"/>
          </a:xfrm>
          <a:prstGeom prst="rect">
            <a:avLst/>
          </a:prstGeom>
          <a:noFill/>
          <a:ln/>
        </p:spPr>
        <p:txBody>
          <a:bodyPr wrap="square" lIns="0" tIns="0" rIns="0" bIns="0" rtlCol="0" anchor="t"/>
          <a:lstStyle/>
          <a:p>
            <a:pPr indent="0" marL="0">
              <a:buNone/>
            </a:pPr>
            <a:r>
              <a:rPr lang="en-US" sz="1400" i="1" dirty="0">
                <a:solidFill>
                  <a:schemeClr val="accent4"/>
                </a:solidFill>
                <a:latin typeface="Calibri" pitchFamily="34" charset="0"/>
                <a:ea typeface="Calibri" pitchFamily="34" charset="-122"/>
                <a:cs typeface="Calibri" pitchFamily="34" charset="-120"/>
              </a:rPr>
              <a:t>Separate skill from luck.</a:t>
            </a:r>
            <a:endParaRPr lang="en-US" sz="1400" dirty="0"/>
          </a:p>
        </p:txBody>
      </p:sp>
      <p:sp>
        <p:nvSpPr>
          <p:cNvPr id="6" name="Text 4"/>
          <p:cNvSpPr txBox="1"/>
          <p:nvPr/>
        </p:nvSpPr>
        <p:spPr>
          <a:xfrm>
            <a:off x="457200" y="2057400"/>
            <a:ext cx="406908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Empirical-Bayes shrinkage: estimates are pulled toward zero when there's little evidence</a:t>
            </a:r>
            <a:endParaRPr lang="en-US" sz="1300" dirty="0"/>
          </a:p>
          <a:p>
            <a:pPr marL="177800" indent="-177800">
              <a:spcAft>
                <a:spcPts val="800"/>
              </a:spcAft>
              <a:buSzPct val="100000"/>
              <a:buChar char="•"/>
            </a:pPr>
            <a:r>
              <a:rPr lang="en-US" sz="1300" dirty="0">
                <a:solidFill>
                  <a:schemeClr val="tx1"/>
                </a:solidFill>
              </a:rPr>
              <a:t>σ² (noise of one idea) and τ² (spread of true skill) are estimated from the data itself</a:t>
            </a:r>
            <a:endParaRPr lang="en-US" sz="1300" dirty="0"/>
          </a:p>
          <a:p>
            <a:pPr marL="177800" indent="-177800">
              <a:spcAft>
                <a:spcPts val="800"/>
              </a:spcAft>
              <a:buSzPct val="100000"/>
              <a:buChar char="•"/>
            </a:pPr>
            <a:r>
              <a:rPr lang="en-US" sz="1300" dirty="0">
                <a:solidFill>
                  <a:schemeClr val="tx1"/>
                </a:solidFill>
              </a:rPr>
              <a:t>Outputs a skill estimate, a 95% interval, and P(skill &gt; 0)</a:t>
            </a:r>
            <a:endParaRPr lang="en-US" sz="1300" dirty="0"/>
          </a:p>
        </p:txBody>
      </p:sp>
      <p:sp>
        <p:nvSpPr>
          <p:cNvPr id="7" name="formula"/>
          <p:cNvSpPr/>
          <p:nvPr/>
        </p:nvSpPr>
        <p:spPr>
          <a:xfrm>
            <a:off x="457200" y="3429000"/>
            <a:ext cx="4069080" cy="685800"/>
          </a:xfrm>
          <a:prstGeom prst="roundRect">
            <a:avLst>
              <a:gd name="adj" fmla="val 10667"/>
            </a:avLst>
          </a:prstGeom>
          <a:solidFill>
            <a:srgbClr val="EEF4F0"/>
          </a:solidFill>
          <a:ln w="12700">
            <a:solidFill>
              <a:srgbClr val="EEF4F0"/>
            </a:solidFill>
            <a:prstDash val="solid"/>
          </a:ln>
        </p:spPr>
      </p:sp>
      <p:sp>
        <p:nvSpPr>
          <p:cNvPr id="8" name="Text 6"/>
          <p:cNvSpPr txBox="1"/>
          <p:nvPr/>
        </p:nvSpPr>
        <p:spPr>
          <a:xfrm>
            <a:off x="640080" y="3429000"/>
            <a:ext cx="3749040" cy="685800"/>
          </a:xfrm>
          <a:prstGeom prst="rect">
            <a:avLst/>
          </a:prstGeom>
          <a:noFill/>
          <a:ln/>
        </p:spPr>
        <p:txBody>
          <a:bodyPr wrap="square" lIns="0" tIns="0" rIns="0" bIns="0" rtlCol="0" anchor="ctr"/>
          <a:lstStyle/>
          <a:p>
            <a:pPr algn="ctr" indent="0" marL="0">
              <a:buNone/>
            </a:pPr>
            <a:r>
              <a:rPr lang="en-US" sz="1500" dirty="0">
                <a:solidFill>
                  <a:schemeClr val="tx2"/>
                </a:solidFill>
                <a:latin typeface="Courier New" pitchFamily="34" charset="0"/>
                <a:ea typeface="Courier New" pitchFamily="34" charset="-122"/>
                <a:cs typeface="Courier New" pitchFamily="34" charset="-120"/>
              </a:rPr>
              <a:t>shrunk = mean × nτ² / (nτ² + σ²)</a:t>
            </a:r>
            <a:endParaRPr lang="en-US" sz="1500" dirty="0"/>
          </a:p>
        </p:txBody>
      </p:sp>
      <p:sp>
        <p:nvSpPr>
          <p:cNvPr id="9" name="Shape 7"/>
          <p:cNvSpPr/>
          <p:nvPr/>
        </p:nvSpPr>
        <p:spPr>
          <a:xfrm>
            <a:off x="457200" y="4315968"/>
            <a:ext cx="237744" cy="237744"/>
          </a:xfrm>
          <a:prstGeom prst="ellipse">
            <a:avLst/>
          </a:prstGeom>
          <a:solidFill>
            <a:srgbClr val="A9C7BA"/>
          </a:solidFill>
          <a:ln w="12700">
            <a:solidFill>
              <a:srgbClr val="A9C7BA"/>
            </a:solidFill>
            <a:prstDash val="solid"/>
          </a:ln>
        </p:spPr>
      </p:sp>
      <p:sp>
        <p:nvSpPr>
          <p:cNvPr id="10" name="Text 8"/>
          <p:cNvSpPr txBox="1"/>
          <p:nvPr/>
        </p:nvSpPr>
        <p:spPr>
          <a:xfrm>
            <a:off x="457200"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1</a:t>
            </a:r>
            <a:endParaRPr lang="en-US" sz="900" dirty="0"/>
          </a:p>
        </p:txBody>
      </p:sp>
      <p:sp>
        <p:nvSpPr>
          <p:cNvPr id="11" name="Shape 9"/>
          <p:cNvSpPr/>
          <p:nvPr/>
        </p:nvSpPr>
        <p:spPr>
          <a:xfrm>
            <a:off x="1024128" y="4315968"/>
            <a:ext cx="237744" cy="237744"/>
          </a:xfrm>
          <a:prstGeom prst="ellipse">
            <a:avLst/>
          </a:prstGeom>
          <a:solidFill>
            <a:srgbClr val="A9C7BA"/>
          </a:solidFill>
          <a:ln w="12700">
            <a:solidFill>
              <a:srgbClr val="A9C7BA"/>
            </a:solidFill>
            <a:prstDash val="solid"/>
          </a:ln>
        </p:spPr>
      </p:sp>
      <p:sp>
        <p:nvSpPr>
          <p:cNvPr id="12" name="Text 10"/>
          <p:cNvSpPr txBox="1"/>
          <p:nvPr/>
        </p:nvSpPr>
        <p:spPr>
          <a:xfrm>
            <a:off x="1024128"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2</a:t>
            </a:r>
            <a:endParaRPr lang="en-US" sz="900" dirty="0"/>
          </a:p>
        </p:txBody>
      </p:sp>
      <p:sp>
        <p:nvSpPr>
          <p:cNvPr id="13" name="Shape 11"/>
          <p:cNvSpPr/>
          <p:nvPr/>
        </p:nvSpPr>
        <p:spPr>
          <a:xfrm>
            <a:off x="1591056" y="4315968"/>
            <a:ext cx="237744" cy="237744"/>
          </a:xfrm>
          <a:prstGeom prst="ellipse">
            <a:avLst/>
          </a:prstGeom>
          <a:solidFill>
            <a:srgbClr val="A9C7BA"/>
          </a:solidFill>
          <a:ln w="12700">
            <a:solidFill>
              <a:srgbClr val="A9C7BA"/>
            </a:solidFill>
            <a:prstDash val="solid"/>
          </a:ln>
        </p:spPr>
      </p:sp>
      <p:sp>
        <p:nvSpPr>
          <p:cNvPr id="14" name="Text 12"/>
          <p:cNvSpPr txBox="1"/>
          <p:nvPr/>
        </p:nvSpPr>
        <p:spPr>
          <a:xfrm>
            <a:off x="1591056"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3</a:t>
            </a:r>
            <a:endParaRPr lang="en-US" sz="900" dirty="0"/>
          </a:p>
        </p:txBody>
      </p:sp>
      <p:sp>
        <p:nvSpPr>
          <p:cNvPr id="15" name="Shape 13"/>
          <p:cNvSpPr/>
          <p:nvPr/>
        </p:nvSpPr>
        <p:spPr>
          <a:xfrm>
            <a:off x="2157984" y="4315968"/>
            <a:ext cx="237744" cy="237744"/>
          </a:xfrm>
          <a:prstGeom prst="ellipse">
            <a:avLst/>
          </a:prstGeom>
          <a:solidFill>
            <a:srgbClr val="A9C7BA"/>
          </a:solidFill>
          <a:ln w="12700">
            <a:solidFill>
              <a:srgbClr val="A9C7BA"/>
            </a:solidFill>
            <a:prstDash val="solid"/>
          </a:ln>
        </p:spPr>
      </p:sp>
      <p:sp>
        <p:nvSpPr>
          <p:cNvPr id="16" name="Text 14"/>
          <p:cNvSpPr txBox="1"/>
          <p:nvPr/>
        </p:nvSpPr>
        <p:spPr>
          <a:xfrm>
            <a:off x="2157984"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4</a:t>
            </a:r>
            <a:endParaRPr lang="en-US" sz="900" dirty="0"/>
          </a:p>
        </p:txBody>
      </p:sp>
      <p:sp>
        <p:nvSpPr>
          <p:cNvPr id="17" name="Shape 15"/>
          <p:cNvSpPr/>
          <p:nvPr/>
        </p:nvSpPr>
        <p:spPr>
          <a:xfrm>
            <a:off x="2724912" y="4315968"/>
            <a:ext cx="237744" cy="237744"/>
          </a:xfrm>
          <a:prstGeom prst="ellipse">
            <a:avLst/>
          </a:prstGeom>
          <a:solidFill>
            <a:srgbClr val="A9C7BA"/>
          </a:solidFill>
          <a:ln w="12700">
            <a:solidFill>
              <a:srgbClr val="A9C7BA"/>
            </a:solidFill>
            <a:prstDash val="solid"/>
          </a:ln>
        </p:spPr>
      </p:sp>
      <p:sp>
        <p:nvSpPr>
          <p:cNvPr id="18" name="Text 16"/>
          <p:cNvSpPr txBox="1"/>
          <p:nvPr/>
        </p:nvSpPr>
        <p:spPr>
          <a:xfrm>
            <a:off x="2724912"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5</a:t>
            </a:r>
            <a:endParaRPr lang="en-US" sz="900" dirty="0"/>
          </a:p>
        </p:txBody>
      </p:sp>
      <p:sp>
        <p:nvSpPr>
          <p:cNvPr id="19" name="Shape 17"/>
          <p:cNvSpPr/>
          <p:nvPr/>
        </p:nvSpPr>
        <p:spPr>
          <a:xfrm>
            <a:off x="3291840" y="4315968"/>
            <a:ext cx="237744" cy="237744"/>
          </a:xfrm>
          <a:prstGeom prst="ellipse">
            <a:avLst/>
          </a:prstGeom>
          <a:solidFill>
            <a:srgbClr val="1F9D61"/>
          </a:solidFill>
          <a:ln w="12700">
            <a:solidFill>
              <a:srgbClr val="1F9D61"/>
            </a:solidFill>
            <a:prstDash val="solid"/>
          </a:ln>
        </p:spPr>
      </p:sp>
      <p:sp>
        <p:nvSpPr>
          <p:cNvPr id="20" name="Text 18"/>
          <p:cNvSpPr txBox="1"/>
          <p:nvPr/>
        </p:nvSpPr>
        <p:spPr>
          <a:xfrm>
            <a:off x="3291840"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6</a:t>
            </a:r>
            <a:endParaRPr lang="en-US" sz="900" dirty="0"/>
          </a:p>
        </p:txBody>
      </p:sp>
      <p:sp>
        <p:nvSpPr>
          <p:cNvPr id="21" name="Shape 19"/>
          <p:cNvSpPr/>
          <p:nvPr/>
        </p:nvSpPr>
        <p:spPr>
          <a:xfrm>
            <a:off x="3858768" y="4315968"/>
            <a:ext cx="237744" cy="237744"/>
          </a:xfrm>
          <a:prstGeom prst="ellipse">
            <a:avLst/>
          </a:prstGeom>
          <a:solidFill>
            <a:srgbClr val="DDE6E2"/>
          </a:solidFill>
          <a:ln w="12700">
            <a:solidFill>
              <a:srgbClr val="DDE6E2"/>
            </a:solidFill>
            <a:prstDash val="solid"/>
          </a:ln>
        </p:spPr>
      </p:sp>
      <p:sp>
        <p:nvSpPr>
          <p:cNvPr id="22" name="Text 20"/>
          <p:cNvSpPr txBox="1"/>
          <p:nvPr/>
        </p:nvSpPr>
        <p:spPr>
          <a:xfrm>
            <a:off x="3858768" y="4315968"/>
            <a:ext cx="237744" cy="237744"/>
          </a:xfrm>
          <a:prstGeom prst="rect">
            <a:avLst/>
          </a:prstGeom>
          <a:noFill/>
          <a:ln/>
        </p:spPr>
        <p:txBody>
          <a:bodyPr wrap="square" lIns="0" tIns="0" rIns="0" bIns="0" rtlCol="0" anchor="ctr"/>
          <a:lstStyle/>
          <a:p>
            <a:pPr algn="ctr" indent="0" marL="0">
              <a:buNone/>
            </a:pPr>
            <a:r>
              <a:rPr lang="en-US" sz="900" b="1" dirty="0">
                <a:solidFill>
                  <a:srgbClr val="6B7D77"/>
                </a:solidFill>
                <a:latin typeface="Calibri" pitchFamily="34" charset="0"/>
                <a:ea typeface="Calibri" pitchFamily="34" charset="-122"/>
                <a:cs typeface="Calibri" pitchFamily="34" charset="-120"/>
              </a:rPr>
              <a:t>7</a:t>
            </a:r>
            <a:endParaRPr lang="en-US" sz="900" dirty="0"/>
          </a:p>
        </p:txBody>
      </p:sp>
      <p:sp>
        <p:nvSpPr>
          <p:cNvPr id="23" name="code placeholder"/>
          <p:cNvSpPr/>
          <p:nvPr/>
        </p:nvSpPr>
        <p:spPr>
          <a:xfrm>
            <a:off x="4800600" y="1024128"/>
            <a:ext cx="3886200" cy="3529584"/>
          </a:xfrm>
          <a:prstGeom prst="roundRect">
            <a:avLst>
              <a:gd name="adj" fmla="val 2073"/>
            </a:avLst>
          </a:prstGeom>
          <a:solidFill>
            <a:srgbClr val="16211F"/>
          </a:solidFill>
          <a:ln w="12700">
            <a:solidFill>
              <a:srgbClr val="16211F"/>
            </a:solidFill>
            <a:prstDash val="solid"/>
          </a:ln>
        </p:spPr>
      </p:sp>
      <p:sp>
        <p:nvSpPr>
          <p:cNvPr id="24" name="Text 22"/>
          <p:cNvSpPr txBox="1"/>
          <p:nvPr/>
        </p:nvSpPr>
        <p:spPr>
          <a:xfrm>
            <a:off x="5029200" y="1207008"/>
            <a:ext cx="3429000" cy="228600"/>
          </a:xfrm>
          <a:prstGeom prst="rect">
            <a:avLst/>
          </a:prstGeom>
          <a:noFill/>
          <a:ln/>
        </p:spPr>
        <p:txBody>
          <a:bodyPr wrap="square" lIns="0" tIns="0" rIns="0" bIns="0" rtlCol="0" anchor="ctr"/>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CODE SNIPPET</a:t>
            </a:r>
            <a:endParaRPr lang="en-US" sz="1000" dirty="0"/>
          </a:p>
        </p:txBody>
      </p:sp>
      <p:sp>
        <p:nvSpPr>
          <p:cNvPr id="25" name="Text 23"/>
          <p:cNvSpPr txBox="1"/>
          <p:nvPr/>
        </p:nvSpPr>
        <p:spPr>
          <a:xfrm>
            <a:off x="5029200" y="1463040"/>
            <a:ext cx="3429000" cy="32004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estimate_skill()</a:t>
            </a:r>
            <a:endParaRPr lang="en-US" sz="1300" dirty="0"/>
          </a:p>
        </p:txBody>
      </p:sp>
      <p:sp>
        <p:nvSpPr>
          <p:cNvPr id="26" name="Text 24"/>
          <p:cNvSpPr txBox="1"/>
          <p:nvPr/>
        </p:nvSpPr>
        <p:spPr>
          <a:xfrm>
            <a:off x="5029200" y="1773936"/>
            <a:ext cx="3429000" cy="228600"/>
          </a:xfrm>
          <a:prstGeom prst="rect">
            <a:avLst/>
          </a:prstGeom>
          <a:noFill/>
          <a:ln/>
        </p:spPr>
        <p:txBody>
          <a:bodyPr wrap="square" lIns="0" tIns="0" rIns="0" bIns="0" rtlCol="0" anchor="ctr"/>
          <a:lstStyle/>
          <a:p>
            <a:pPr indent="0" marL="0">
              <a:buNone/>
            </a:pPr>
            <a:r>
              <a:rPr lang="en-US" sz="1000" dirty="0">
                <a:solidFill>
                  <a:schemeClr val="accent5"/>
                </a:solidFill>
                <a:latin typeface="Courier New" pitchFamily="34" charset="0"/>
                <a:ea typeface="Courier New" pitchFamily="34" charset="-122"/>
                <a:cs typeface="Courier New" pitchFamily="34" charset="-120"/>
              </a:rPr>
              <a:t>backend/tally/scoring/skill.py</a:t>
            </a:r>
            <a:endParaRPr lang="en-US" sz="1000" dirty="0"/>
          </a:p>
        </p:txBody>
      </p:sp>
      <p:sp>
        <p:nvSpPr>
          <p:cNvPr id="27" name="Text 25"/>
          <p:cNvSpPr txBox="1"/>
          <p:nvPr/>
        </p:nvSpPr>
        <p:spPr>
          <a:xfrm>
            <a:off x="5029200" y="2788920"/>
            <a:ext cx="3429000" cy="365760"/>
          </a:xfrm>
          <a:prstGeom prst="rect">
            <a:avLst/>
          </a:prstGeom>
          <a:noFill/>
          <a:ln/>
        </p:spPr>
        <p:txBody>
          <a:bodyPr wrap="square" lIns="0" tIns="0" rIns="0" bIns="0" rtlCol="0" anchor="ctr"/>
          <a:lstStyle/>
          <a:p>
            <a:pPr algn="ctr" indent="0" marL="0">
              <a:buNone/>
            </a:pPr>
            <a:r>
              <a:rPr lang="en-US" sz="1100" i="1" dirty="0">
                <a:solidFill>
                  <a:schemeClr val="accent4"/>
                </a:solidFill>
                <a:latin typeface="Calibri" pitchFamily="34" charset="0"/>
                <a:ea typeface="Calibri" pitchFamily="34" charset="-122"/>
                <a:cs typeface="Calibri" pitchFamily="34" charset="-120"/>
              </a:rPr>
              <a:t>Paste code screenshot here after clean-up</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Step 7 · Present: who to listen to</a:t>
            </a:r>
            <a:endParaRPr lang="en-US" sz="3000" dirty="0"/>
          </a:p>
        </p:txBody>
      </p:sp>
      <p:sp>
        <p:nvSpPr>
          <p:cNvPr id="3" name="function chip"/>
          <p:cNvSpPr/>
          <p:nvPr/>
        </p:nvSpPr>
        <p:spPr>
          <a:xfrm>
            <a:off x="457200" y="1024128"/>
            <a:ext cx="4069080" cy="384048"/>
          </a:xfrm>
          <a:prstGeom prst="roundRect">
            <a:avLst>
              <a:gd name="adj" fmla="val 19048"/>
            </a:avLst>
          </a:prstGeom>
          <a:solidFill>
            <a:srgbClr val="EEF4F0"/>
          </a:solidFill>
          <a:ln w="12700">
            <a:solidFill>
              <a:srgbClr val="EEF4F0"/>
            </a:solidFill>
            <a:prstDash val="solid"/>
          </a:ln>
        </p:spPr>
      </p:sp>
      <p:sp>
        <p:nvSpPr>
          <p:cNvPr id="4" name="Text 2"/>
          <p:cNvSpPr txBox="1"/>
          <p:nvPr/>
        </p:nvSpPr>
        <p:spPr>
          <a:xfrm>
            <a:off x="594360" y="1024128"/>
            <a:ext cx="3840480" cy="384048"/>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build_signals(open_ideas, weights)</a:t>
            </a:r>
            <a:endParaRPr lang="en-US" sz="1200" dirty="0"/>
          </a:p>
        </p:txBody>
      </p:sp>
      <p:sp>
        <p:nvSpPr>
          <p:cNvPr id="5" name="Text 3"/>
          <p:cNvSpPr txBox="1"/>
          <p:nvPr/>
        </p:nvSpPr>
        <p:spPr>
          <a:xfrm>
            <a:off x="457200" y="1536192"/>
            <a:ext cx="4069080" cy="457200"/>
          </a:xfrm>
          <a:prstGeom prst="rect">
            <a:avLst/>
          </a:prstGeom>
          <a:noFill/>
          <a:ln/>
        </p:spPr>
        <p:txBody>
          <a:bodyPr wrap="square" lIns="0" tIns="0" rIns="0" bIns="0" rtlCol="0" anchor="t"/>
          <a:lstStyle/>
          <a:p>
            <a:pPr indent="0" marL="0">
              <a:buNone/>
            </a:pPr>
            <a:r>
              <a:rPr lang="en-US" sz="1400" i="1" dirty="0">
                <a:solidFill>
                  <a:schemeClr val="accent4"/>
                </a:solidFill>
                <a:latin typeface="Calibri" pitchFamily="34" charset="0"/>
                <a:ea typeface="Calibri" pitchFamily="34" charset="-122"/>
                <a:cs typeface="Calibri" pitchFamily="34" charset="-120"/>
              </a:rPr>
              <a:t>Backward-looking skill drives forward-looking signals.</a:t>
            </a:r>
            <a:endParaRPr lang="en-US" sz="1400" dirty="0"/>
          </a:p>
        </p:txBody>
      </p:sp>
      <p:sp>
        <p:nvSpPr>
          <p:cNvPr id="6" name="Text 4"/>
          <p:cNvSpPr txBox="1"/>
          <p:nvPr/>
        </p:nvSpPr>
        <p:spPr>
          <a:xfrm>
            <a:off x="457200" y="2057400"/>
            <a:ext cx="406908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Leaderboard: who has been right (closed ideas, shrunk scores)</a:t>
            </a:r>
            <a:endParaRPr lang="en-US" sz="1300" dirty="0"/>
          </a:p>
          <a:p>
            <a:pPr marL="177800" indent="-177800">
              <a:spcAft>
                <a:spcPts val="800"/>
              </a:spcAft>
              <a:buSzPct val="100000"/>
              <a:buChar char="•"/>
            </a:pPr>
            <a:r>
              <a:rPr lang="en-US" sz="1300" dirty="0">
                <a:solidFill>
                  <a:schemeClr val="tx1"/>
                </a:solidFill>
              </a:rPr>
              <a:t>Signals: today's open ideas weighted by max(0, 2P − 1), so unproven sources count for zero</a:t>
            </a:r>
            <a:endParaRPr lang="en-US" sz="1300" dirty="0"/>
          </a:p>
          <a:p>
            <a:pPr marL="177800" indent="-177800">
              <a:spcAft>
                <a:spcPts val="800"/>
              </a:spcAft>
              <a:buSzPct val="100000"/>
              <a:buChar char="•"/>
            </a:pPr>
            <a:r>
              <a:rPr lang="en-US" sz="1300" dirty="0">
                <a:solidFill>
                  <a:schemeClr val="tx1"/>
                </a:solidFill>
              </a:rPr>
              <a:t>Risk of following the signals: historical VaR / CVaR (the Aegis link)</a:t>
            </a:r>
            <a:endParaRPr lang="en-US" sz="1300" dirty="0"/>
          </a:p>
        </p:txBody>
      </p:sp>
      <p:sp>
        <p:nvSpPr>
          <p:cNvPr id="7" name="Shape 5"/>
          <p:cNvSpPr/>
          <p:nvPr/>
        </p:nvSpPr>
        <p:spPr>
          <a:xfrm>
            <a:off x="457200" y="4315968"/>
            <a:ext cx="237744" cy="237744"/>
          </a:xfrm>
          <a:prstGeom prst="ellipse">
            <a:avLst/>
          </a:prstGeom>
          <a:solidFill>
            <a:srgbClr val="A9C7BA"/>
          </a:solidFill>
          <a:ln w="12700">
            <a:solidFill>
              <a:srgbClr val="A9C7BA"/>
            </a:solidFill>
            <a:prstDash val="solid"/>
          </a:ln>
        </p:spPr>
      </p:sp>
      <p:sp>
        <p:nvSpPr>
          <p:cNvPr id="8" name="Text 6"/>
          <p:cNvSpPr txBox="1"/>
          <p:nvPr/>
        </p:nvSpPr>
        <p:spPr>
          <a:xfrm>
            <a:off x="457200"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1</a:t>
            </a:r>
            <a:endParaRPr lang="en-US" sz="900" dirty="0"/>
          </a:p>
        </p:txBody>
      </p:sp>
      <p:sp>
        <p:nvSpPr>
          <p:cNvPr id="9" name="Shape 7"/>
          <p:cNvSpPr/>
          <p:nvPr/>
        </p:nvSpPr>
        <p:spPr>
          <a:xfrm>
            <a:off x="1024128" y="4315968"/>
            <a:ext cx="237744" cy="237744"/>
          </a:xfrm>
          <a:prstGeom prst="ellipse">
            <a:avLst/>
          </a:prstGeom>
          <a:solidFill>
            <a:srgbClr val="A9C7BA"/>
          </a:solidFill>
          <a:ln w="12700">
            <a:solidFill>
              <a:srgbClr val="A9C7BA"/>
            </a:solidFill>
            <a:prstDash val="solid"/>
          </a:ln>
        </p:spPr>
      </p:sp>
      <p:sp>
        <p:nvSpPr>
          <p:cNvPr id="10" name="Text 8"/>
          <p:cNvSpPr txBox="1"/>
          <p:nvPr/>
        </p:nvSpPr>
        <p:spPr>
          <a:xfrm>
            <a:off x="1024128"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2</a:t>
            </a:r>
            <a:endParaRPr lang="en-US" sz="900" dirty="0"/>
          </a:p>
        </p:txBody>
      </p:sp>
      <p:sp>
        <p:nvSpPr>
          <p:cNvPr id="11" name="Shape 9"/>
          <p:cNvSpPr/>
          <p:nvPr/>
        </p:nvSpPr>
        <p:spPr>
          <a:xfrm>
            <a:off x="1591056" y="4315968"/>
            <a:ext cx="237744" cy="237744"/>
          </a:xfrm>
          <a:prstGeom prst="ellipse">
            <a:avLst/>
          </a:prstGeom>
          <a:solidFill>
            <a:srgbClr val="A9C7BA"/>
          </a:solidFill>
          <a:ln w="12700">
            <a:solidFill>
              <a:srgbClr val="A9C7BA"/>
            </a:solidFill>
            <a:prstDash val="solid"/>
          </a:ln>
        </p:spPr>
      </p:sp>
      <p:sp>
        <p:nvSpPr>
          <p:cNvPr id="12" name="Text 10"/>
          <p:cNvSpPr txBox="1"/>
          <p:nvPr/>
        </p:nvSpPr>
        <p:spPr>
          <a:xfrm>
            <a:off x="1591056"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3</a:t>
            </a:r>
            <a:endParaRPr lang="en-US" sz="900" dirty="0"/>
          </a:p>
        </p:txBody>
      </p:sp>
      <p:sp>
        <p:nvSpPr>
          <p:cNvPr id="13" name="Shape 11"/>
          <p:cNvSpPr/>
          <p:nvPr/>
        </p:nvSpPr>
        <p:spPr>
          <a:xfrm>
            <a:off x="2157984" y="4315968"/>
            <a:ext cx="237744" cy="237744"/>
          </a:xfrm>
          <a:prstGeom prst="ellipse">
            <a:avLst/>
          </a:prstGeom>
          <a:solidFill>
            <a:srgbClr val="A9C7BA"/>
          </a:solidFill>
          <a:ln w="12700">
            <a:solidFill>
              <a:srgbClr val="A9C7BA"/>
            </a:solidFill>
            <a:prstDash val="solid"/>
          </a:ln>
        </p:spPr>
      </p:sp>
      <p:sp>
        <p:nvSpPr>
          <p:cNvPr id="14" name="Text 12"/>
          <p:cNvSpPr txBox="1"/>
          <p:nvPr/>
        </p:nvSpPr>
        <p:spPr>
          <a:xfrm>
            <a:off x="2157984"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4</a:t>
            </a:r>
            <a:endParaRPr lang="en-US" sz="900" dirty="0"/>
          </a:p>
        </p:txBody>
      </p:sp>
      <p:sp>
        <p:nvSpPr>
          <p:cNvPr id="15" name="Shape 13"/>
          <p:cNvSpPr/>
          <p:nvPr/>
        </p:nvSpPr>
        <p:spPr>
          <a:xfrm>
            <a:off x="2724912" y="4315968"/>
            <a:ext cx="237744" cy="237744"/>
          </a:xfrm>
          <a:prstGeom prst="ellipse">
            <a:avLst/>
          </a:prstGeom>
          <a:solidFill>
            <a:srgbClr val="A9C7BA"/>
          </a:solidFill>
          <a:ln w="12700">
            <a:solidFill>
              <a:srgbClr val="A9C7BA"/>
            </a:solidFill>
            <a:prstDash val="solid"/>
          </a:ln>
        </p:spPr>
      </p:sp>
      <p:sp>
        <p:nvSpPr>
          <p:cNvPr id="16" name="Text 14"/>
          <p:cNvSpPr txBox="1"/>
          <p:nvPr/>
        </p:nvSpPr>
        <p:spPr>
          <a:xfrm>
            <a:off x="2724912"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5</a:t>
            </a:r>
            <a:endParaRPr lang="en-US" sz="900" dirty="0"/>
          </a:p>
        </p:txBody>
      </p:sp>
      <p:sp>
        <p:nvSpPr>
          <p:cNvPr id="17" name="Shape 15"/>
          <p:cNvSpPr/>
          <p:nvPr/>
        </p:nvSpPr>
        <p:spPr>
          <a:xfrm>
            <a:off x="3291840" y="4315968"/>
            <a:ext cx="237744" cy="237744"/>
          </a:xfrm>
          <a:prstGeom prst="ellipse">
            <a:avLst/>
          </a:prstGeom>
          <a:solidFill>
            <a:srgbClr val="A9C7BA"/>
          </a:solidFill>
          <a:ln w="12700">
            <a:solidFill>
              <a:srgbClr val="A9C7BA"/>
            </a:solidFill>
            <a:prstDash val="solid"/>
          </a:ln>
        </p:spPr>
      </p:sp>
      <p:sp>
        <p:nvSpPr>
          <p:cNvPr id="18" name="Text 16"/>
          <p:cNvSpPr txBox="1"/>
          <p:nvPr/>
        </p:nvSpPr>
        <p:spPr>
          <a:xfrm>
            <a:off x="3291840"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6</a:t>
            </a:r>
            <a:endParaRPr lang="en-US" sz="900" dirty="0"/>
          </a:p>
        </p:txBody>
      </p:sp>
      <p:sp>
        <p:nvSpPr>
          <p:cNvPr id="19" name="Shape 17"/>
          <p:cNvSpPr/>
          <p:nvPr/>
        </p:nvSpPr>
        <p:spPr>
          <a:xfrm>
            <a:off x="3858768" y="4315968"/>
            <a:ext cx="237744" cy="237744"/>
          </a:xfrm>
          <a:prstGeom prst="ellipse">
            <a:avLst/>
          </a:prstGeom>
          <a:solidFill>
            <a:srgbClr val="1F9D61"/>
          </a:solidFill>
          <a:ln w="12700">
            <a:solidFill>
              <a:srgbClr val="1F9D61"/>
            </a:solidFill>
            <a:prstDash val="solid"/>
          </a:ln>
        </p:spPr>
      </p:sp>
      <p:sp>
        <p:nvSpPr>
          <p:cNvPr id="20" name="Text 18"/>
          <p:cNvSpPr txBox="1"/>
          <p:nvPr/>
        </p:nvSpPr>
        <p:spPr>
          <a:xfrm>
            <a:off x="3858768" y="43159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latin typeface="Calibri" pitchFamily="34" charset="0"/>
                <a:ea typeface="Calibri" pitchFamily="34" charset="-122"/>
                <a:cs typeface="Calibri" pitchFamily="34" charset="-120"/>
              </a:rPr>
              <a:t>7</a:t>
            </a:r>
            <a:endParaRPr lang="en-US" sz="900" dirty="0"/>
          </a:p>
        </p:txBody>
      </p:sp>
      <p:sp>
        <p:nvSpPr>
          <p:cNvPr id="21" name="code placeholder"/>
          <p:cNvSpPr/>
          <p:nvPr/>
        </p:nvSpPr>
        <p:spPr>
          <a:xfrm>
            <a:off x="4800600" y="1024128"/>
            <a:ext cx="3886200" cy="3529584"/>
          </a:xfrm>
          <a:prstGeom prst="roundRect">
            <a:avLst>
              <a:gd name="adj" fmla="val 2073"/>
            </a:avLst>
          </a:prstGeom>
          <a:solidFill>
            <a:srgbClr val="16211F"/>
          </a:solidFill>
          <a:ln w="12700">
            <a:solidFill>
              <a:srgbClr val="16211F"/>
            </a:solidFill>
            <a:prstDash val="solid"/>
          </a:ln>
        </p:spPr>
      </p:sp>
      <p:sp>
        <p:nvSpPr>
          <p:cNvPr id="22" name="Text 20"/>
          <p:cNvSpPr txBox="1"/>
          <p:nvPr/>
        </p:nvSpPr>
        <p:spPr>
          <a:xfrm>
            <a:off x="5029200" y="1207008"/>
            <a:ext cx="3429000" cy="228600"/>
          </a:xfrm>
          <a:prstGeom prst="rect">
            <a:avLst/>
          </a:prstGeom>
          <a:noFill/>
          <a:ln/>
        </p:spPr>
        <p:txBody>
          <a:bodyPr wrap="square" lIns="0" tIns="0" rIns="0" bIns="0" rtlCol="0" anchor="ctr"/>
          <a:lstStyle/>
          <a:p>
            <a:pPr indent="0" marL="0">
              <a:buNone/>
            </a:pPr>
            <a:r>
              <a:rPr lang="en-US" sz="1000" b="1" spc="200" kern="0" dirty="0">
                <a:solidFill>
                  <a:schemeClr val="accent1"/>
                </a:solidFill>
                <a:latin typeface="Calibri" pitchFamily="34" charset="0"/>
                <a:ea typeface="Calibri" pitchFamily="34" charset="-122"/>
                <a:cs typeface="Calibri" pitchFamily="34" charset="-120"/>
              </a:rPr>
              <a:t>CODE SNIPPET</a:t>
            </a:r>
            <a:endParaRPr lang="en-US" sz="1000" dirty="0"/>
          </a:p>
        </p:txBody>
      </p:sp>
      <p:sp>
        <p:nvSpPr>
          <p:cNvPr id="23" name="Text 21"/>
          <p:cNvSpPr txBox="1"/>
          <p:nvPr/>
        </p:nvSpPr>
        <p:spPr>
          <a:xfrm>
            <a:off x="5029200" y="1463040"/>
            <a:ext cx="3429000" cy="32004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build_signals()</a:t>
            </a:r>
            <a:endParaRPr lang="en-US" sz="1300" dirty="0"/>
          </a:p>
        </p:txBody>
      </p:sp>
      <p:sp>
        <p:nvSpPr>
          <p:cNvPr id="24" name="Text 22"/>
          <p:cNvSpPr txBox="1"/>
          <p:nvPr/>
        </p:nvSpPr>
        <p:spPr>
          <a:xfrm>
            <a:off x="5029200" y="1773936"/>
            <a:ext cx="3429000" cy="228600"/>
          </a:xfrm>
          <a:prstGeom prst="rect">
            <a:avLst/>
          </a:prstGeom>
          <a:noFill/>
          <a:ln/>
        </p:spPr>
        <p:txBody>
          <a:bodyPr wrap="square" lIns="0" tIns="0" rIns="0" bIns="0" rtlCol="0" anchor="ctr"/>
          <a:lstStyle/>
          <a:p>
            <a:pPr indent="0" marL="0">
              <a:buNone/>
            </a:pPr>
            <a:r>
              <a:rPr lang="en-US" sz="1000" dirty="0">
                <a:solidFill>
                  <a:schemeClr val="accent5"/>
                </a:solidFill>
                <a:latin typeface="Courier New" pitchFamily="34" charset="0"/>
                <a:ea typeface="Courier New" pitchFamily="34" charset="-122"/>
                <a:cs typeface="Courier New" pitchFamily="34" charset="-120"/>
              </a:rPr>
              <a:t>backend/tally/scoring/signals.py</a:t>
            </a:r>
            <a:endParaRPr lang="en-US" sz="1000" dirty="0"/>
          </a:p>
        </p:txBody>
      </p:sp>
      <p:sp>
        <p:nvSpPr>
          <p:cNvPr id="25" name="Text 23"/>
          <p:cNvSpPr txBox="1"/>
          <p:nvPr/>
        </p:nvSpPr>
        <p:spPr>
          <a:xfrm>
            <a:off x="5029200" y="2788920"/>
            <a:ext cx="3429000" cy="365760"/>
          </a:xfrm>
          <a:prstGeom prst="rect">
            <a:avLst/>
          </a:prstGeom>
          <a:noFill/>
          <a:ln/>
        </p:spPr>
        <p:txBody>
          <a:bodyPr wrap="square" lIns="0" tIns="0" rIns="0" bIns="0" rtlCol="0" anchor="ctr"/>
          <a:lstStyle/>
          <a:p>
            <a:pPr algn="ctr" indent="0" marL="0">
              <a:buNone/>
            </a:pPr>
            <a:r>
              <a:rPr lang="en-US" sz="1100" i="1" dirty="0">
                <a:solidFill>
                  <a:schemeClr val="accent4"/>
                </a:solidFill>
                <a:latin typeface="Calibri" pitchFamily="34" charset="0"/>
                <a:ea typeface="Calibri" pitchFamily="34" charset="-122"/>
                <a:cs typeface="Calibri" pitchFamily="34" charset="-120"/>
              </a:rPr>
              <a:t>Paste code screenshot here after clean-up</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One post, end to end</a:t>
            </a:r>
            <a:endParaRPr lang="en-US" sz="3000" dirty="0"/>
          </a:p>
        </p:txBody>
      </p:sp>
      <p:sp>
        <p:nvSpPr>
          <p:cNvPr id="3" name="Shape 1"/>
          <p:cNvSpPr/>
          <p:nvPr/>
        </p:nvSpPr>
        <p:spPr>
          <a:xfrm>
            <a:off x="960120" y="1234440"/>
            <a:ext cx="0" cy="2971800"/>
          </a:xfrm>
          <a:prstGeom prst="line">
            <a:avLst/>
          </a:prstGeom>
          <a:noFill/>
          <a:ln w="25400">
            <a:solidFill>
              <a:srgbClr val="A9C7BA"/>
            </a:solidFill>
            <a:prstDash val="solid"/>
          </a:ln>
        </p:spPr>
      </p:sp>
      <p:sp>
        <p:nvSpPr>
          <p:cNvPr id="4" name="Shape 2"/>
          <p:cNvSpPr/>
          <p:nvPr/>
        </p:nvSpPr>
        <p:spPr>
          <a:xfrm>
            <a:off x="850392" y="1170432"/>
            <a:ext cx="219456" cy="219456"/>
          </a:xfrm>
          <a:prstGeom prst="ellipse">
            <a:avLst/>
          </a:prstGeom>
          <a:solidFill>
            <a:srgbClr val="2E4A43"/>
          </a:solidFill>
          <a:ln w="25400">
            <a:solidFill>
              <a:srgbClr val="FFFFFF"/>
            </a:solidFill>
            <a:prstDash val="solid"/>
          </a:ln>
        </p:spPr>
      </p:sp>
      <p:sp>
        <p:nvSpPr>
          <p:cNvPr id="5" name="Text 3"/>
          <p:cNvSpPr txBox="1"/>
          <p:nvPr/>
        </p:nvSpPr>
        <p:spPr>
          <a:xfrm>
            <a:off x="1280160" y="1097280"/>
            <a:ext cx="1645920" cy="365760"/>
          </a:xfrm>
          <a:prstGeom prst="rect">
            <a:avLst/>
          </a:prstGeom>
          <a:noFill/>
          <a:ln/>
        </p:spPr>
        <p:txBody>
          <a:bodyPr wrap="square" lIns="0" tIns="0" rIns="0" bIns="0" rtlCol="0" anchor="ctr"/>
          <a:lstStyle/>
          <a:p>
            <a:pPr indent="0" marL="0">
              <a:buNone/>
            </a:pPr>
            <a:r>
              <a:rPr lang="en-US" sz="1300" b="1" dirty="0">
                <a:solidFill>
                  <a:schemeClr val="accent4"/>
                </a:solidFill>
                <a:latin typeface="Calibri" pitchFamily="34" charset="0"/>
                <a:ea typeface="Calibri" pitchFamily="34" charset="-122"/>
                <a:cs typeface="Calibri" pitchFamily="34" charset="-120"/>
              </a:rPr>
              <a:t>Mon 21:00 SGT</a:t>
            </a:r>
            <a:endParaRPr lang="en-US" sz="1300" dirty="0"/>
          </a:p>
        </p:txBody>
      </p:sp>
      <p:sp>
        <p:nvSpPr>
          <p:cNvPr id="6" name="Text 4"/>
          <p:cNvSpPr txBox="1"/>
          <p:nvPr/>
        </p:nvSpPr>
        <p:spPr>
          <a:xfrm>
            <a:off x="2926080" y="1060704"/>
            <a:ext cx="576072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“Loading up on TSLA puts, deliveries will miss”</a:t>
            </a:r>
            <a:endParaRPr lang="en-US" sz="1500" dirty="0"/>
          </a:p>
        </p:txBody>
      </p:sp>
      <p:sp>
        <p:nvSpPr>
          <p:cNvPr id="7" name="Text 5"/>
          <p:cNvSpPr txBox="1"/>
          <p:nvPr/>
        </p:nvSpPr>
        <p:spPr>
          <a:xfrm>
            <a:off x="2926080" y="1344168"/>
            <a:ext cx="5760720" cy="274320"/>
          </a:xfrm>
          <a:prstGeom prst="rect">
            <a:avLst/>
          </a:prstGeom>
          <a:noFill/>
          <a:ln/>
        </p:spPr>
        <p:txBody>
          <a:bodyPr wrap="square" lIns="0" tIns="0" rIns="0" bIns="0" rtlCol="0" anchor="ctr"/>
          <a:lstStyle/>
          <a:p>
            <a:pPr indent="0" marL="0">
              <a:buNone/>
            </a:pPr>
            <a:r>
              <a:rPr lang="en-US" sz="1200" dirty="0">
                <a:solidFill>
                  <a:srgbClr val="6B7D77"/>
                </a:solidFill>
                <a:latin typeface="Calibri" pitchFamily="34" charset="0"/>
                <a:ea typeface="Calibri" pitchFamily="34" charset="-122"/>
                <a:cs typeface="Calibri" pitchFamily="34" charset="-120"/>
              </a:rPr>
              <a:t>posted, saved with our timestamp, queued</a:t>
            </a:r>
            <a:endParaRPr lang="en-US" sz="1200" dirty="0"/>
          </a:p>
        </p:txBody>
      </p:sp>
      <p:sp>
        <p:nvSpPr>
          <p:cNvPr id="8" name="Shape 6"/>
          <p:cNvSpPr/>
          <p:nvPr/>
        </p:nvSpPr>
        <p:spPr>
          <a:xfrm>
            <a:off x="850392" y="1792224"/>
            <a:ext cx="219456" cy="219456"/>
          </a:xfrm>
          <a:prstGeom prst="ellipse">
            <a:avLst/>
          </a:prstGeom>
          <a:solidFill>
            <a:srgbClr val="2E4A43"/>
          </a:solidFill>
          <a:ln w="25400">
            <a:solidFill>
              <a:srgbClr val="FFFFFF"/>
            </a:solidFill>
            <a:prstDash val="solid"/>
          </a:ln>
        </p:spPr>
      </p:sp>
      <p:sp>
        <p:nvSpPr>
          <p:cNvPr id="9" name="Text 7"/>
          <p:cNvSpPr txBox="1"/>
          <p:nvPr/>
        </p:nvSpPr>
        <p:spPr>
          <a:xfrm>
            <a:off x="1280160" y="1719072"/>
            <a:ext cx="1645920" cy="365760"/>
          </a:xfrm>
          <a:prstGeom prst="rect">
            <a:avLst/>
          </a:prstGeom>
          <a:noFill/>
          <a:ln/>
        </p:spPr>
        <p:txBody>
          <a:bodyPr wrap="square" lIns="0" tIns="0" rIns="0" bIns="0" rtlCol="0" anchor="ctr"/>
          <a:lstStyle/>
          <a:p>
            <a:pPr indent="0" marL="0">
              <a:buNone/>
            </a:pPr>
            <a:r>
              <a:rPr lang="en-US" sz="1300" b="1" dirty="0">
                <a:solidFill>
                  <a:schemeClr val="accent4"/>
                </a:solidFill>
                <a:latin typeface="Calibri" pitchFamily="34" charset="0"/>
                <a:ea typeface="Calibri" pitchFamily="34" charset="-122"/>
                <a:cs typeface="Calibri" pitchFamily="34" charset="-120"/>
              </a:rPr>
              <a:t>+ seconds</a:t>
            </a:r>
            <a:endParaRPr lang="en-US" sz="1300" dirty="0"/>
          </a:p>
        </p:txBody>
      </p:sp>
      <p:sp>
        <p:nvSpPr>
          <p:cNvPr id="10" name="Text 8"/>
          <p:cNvSpPr txBox="1"/>
          <p:nvPr/>
        </p:nvSpPr>
        <p:spPr>
          <a:xfrm>
            <a:off x="2926080" y="1682496"/>
            <a:ext cx="576072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Groq → TSLA · SHORT · 20 days</a:t>
            </a:r>
            <a:endParaRPr lang="en-US" sz="1500" dirty="0"/>
          </a:p>
        </p:txBody>
      </p:sp>
      <p:sp>
        <p:nvSpPr>
          <p:cNvPr id="11" name="Text 9"/>
          <p:cNvSpPr txBox="1"/>
          <p:nvPr/>
        </p:nvSpPr>
        <p:spPr>
          <a:xfrm>
            <a:off x="2926080" y="1965960"/>
            <a:ext cx="5760720" cy="274320"/>
          </a:xfrm>
          <a:prstGeom prst="rect">
            <a:avLst/>
          </a:prstGeom>
          <a:noFill/>
          <a:ln/>
        </p:spPr>
        <p:txBody>
          <a:bodyPr wrap="square" lIns="0" tIns="0" rIns="0" bIns="0" rtlCol="0" anchor="ctr"/>
          <a:lstStyle/>
          <a:p>
            <a:pPr indent="0" marL="0">
              <a:buNone/>
            </a:pPr>
            <a:r>
              <a:rPr lang="en-US" sz="1200" dirty="0">
                <a:solidFill>
                  <a:srgbClr val="6B7D77"/>
                </a:solidFill>
                <a:latin typeface="Calibri" pitchFamily="34" charset="0"/>
                <a:ea typeface="Calibri" pitchFamily="34" charset="-122"/>
                <a:cs typeface="Calibri" pitchFamily="34" charset="-120"/>
              </a:rPr>
              <a:t>validated: ticker exists, confidence 0.93</a:t>
            </a:r>
            <a:endParaRPr lang="en-US" sz="1200" dirty="0"/>
          </a:p>
        </p:txBody>
      </p:sp>
      <p:sp>
        <p:nvSpPr>
          <p:cNvPr id="12" name="Shape 10"/>
          <p:cNvSpPr/>
          <p:nvPr/>
        </p:nvSpPr>
        <p:spPr>
          <a:xfrm>
            <a:off x="850392" y="2414016"/>
            <a:ext cx="219456" cy="219456"/>
          </a:xfrm>
          <a:prstGeom prst="ellipse">
            <a:avLst/>
          </a:prstGeom>
          <a:solidFill>
            <a:srgbClr val="2E4A43"/>
          </a:solidFill>
          <a:ln w="25400">
            <a:solidFill>
              <a:srgbClr val="FFFFFF"/>
            </a:solidFill>
            <a:prstDash val="solid"/>
          </a:ln>
        </p:spPr>
      </p:sp>
      <p:sp>
        <p:nvSpPr>
          <p:cNvPr id="13" name="Text 11"/>
          <p:cNvSpPr txBox="1"/>
          <p:nvPr/>
        </p:nvSpPr>
        <p:spPr>
          <a:xfrm>
            <a:off x="1280160" y="2340864"/>
            <a:ext cx="1645920" cy="365760"/>
          </a:xfrm>
          <a:prstGeom prst="rect">
            <a:avLst/>
          </a:prstGeom>
          <a:noFill/>
          <a:ln/>
        </p:spPr>
        <p:txBody>
          <a:bodyPr wrap="square" lIns="0" tIns="0" rIns="0" bIns="0" rtlCol="0" anchor="ctr"/>
          <a:lstStyle/>
          <a:p>
            <a:pPr indent="0" marL="0">
              <a:buNone/>
            </a:pPr>
            <a:r>
              <a:rPr lang="en-US" sz="1300" b="1" dirty="0">
                <a:solidFill>
                  <a:schemeClr val="accent4"/>
                </a:solidFill>
                <a:latin typeface="Calibri" pitchFamily="34" charset="0"/>
                <a:ea typeface="Calibri" pitchFamily="34" charset="-122"/>
                <a:cs typeface="Calibri" pitchFamily="34" charset="-120"/>
              </a:rPr>
              <a:t>Mon 21:30 SGT</a:t>
            </a:r>
            <a:endParaRPr lang="en-US" sz="1300" dirty="0"/>
          </a:p>
        </p:txBody>
      </p:sp>
      <p:sp>
        <p:nvSpPr>
          <p:cNvPr id="14" name="Text 12"/>
          <p:cNvSpPr txBox="1"/>
          <p:nvPr/>
        </p:nvSpPr>
        <p:spPr>
          <a:xfrm>
            <a:off x="2926080" y="2304288"/>
            <a:ext cx="576072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New York opens: entry price set</a:t>
            </a:r>
            <a:endParaRPr lang="en-US" sz="1500" dirty="0"/>
          </a:p>
        </p:txBody>
      </p:sp>
      <p:sp>
        <p:nvSpPr>
          <p:cNvPr id="15" name="Text 13"/>
          <p:cNvSpPr txBox="1"/>
          <p:nvPr/>
        </p:nvSpPr>
        <p:spPr>
          <a:xfrm>
            <a:off x="2926080" y="2587752"/>
            <a:ext cx="5760720" cy="274320"/>
          </a:xfrm>
          <a:prstGeom prst="rect">
            <a:avLst/>
          </a:prstGeom>
          <a:noFill/>
          <a:ln/>
        </p:spPr>
        <p:txBody>
          <a:bodyPr wrap="square" lIns="0" tIns="0" rIns="0" bIns="0" rtlCol="0" anchor="ctr"/>
          <a:lstStyle/>
          <a:p>
            <a:pPr indent="0" marL="0">
              <a:buNone/>
            </a:pPr>
            <a:r>
              <a:rPr lang="en-US" sz="1200" dirty="0">
                <a:solidFill>
                  <a:srgbClr val="6B7D77"/>
                </a:solidFill>
                <a:latin typeface="Calibri" pitchFamily="34" charset="0"/>
                <a:ea typeface="Calibri" pitchFamily="34" charset="-122"/>
                <a:cs typeface="Calibri" pitchFamily="34" charset="-120"/>
              </a:rPr>
              <a:t>first tradable price after we received it</a:t>
            </a:r>
            <a:endParaRPr lang="en-US" sz="1200" dirty="0"/>
          </a:p>
        </p:txBody>
      </p:sp>
      <p:sp>
        <p:nvSpPr>
          <p:cNvPr id="16" name="Shape 14"/>
          <p:cNvSpPr/>
          <p:nvPr/>
        </p:nvSpPr>
        <p:spPr>
          <a:xfrm>
            <a:off x="850392" y="3035808"/>
            <a:ext cx="219456" cy="219456"/>
          </a:xfrm>
          <a:prstGeom prst="ellipse">
            <a:avLst/>
          </a:prstGeom>
          <a:solidFill>
            <a:srgbClr val="1F9D61"/>
          </a:solidFill>
          <a:ln w="25400">
            <a:solidFill>
              <a:srgbClr val="FFFFFF"/>
            </a:solidFill>
            <a:prstDash val="solid"/>
          </a:ln>
        </p:spPr>
      </p:sp>
      <p:sp>
        <p:nvSpPr>
          <p:cNvPr id="17" name="Text 15"/>
          <p:cNvSpPr txBox="1"/>
          <p:nvPr/>
        </p:nvSpPr>
        <p:spPr>
          <a:xfrm>
            <a:off x="1280160" y="2962656"/>
            <a:ext cx="1645920" cy="365760"/>
          </a:xfrm>
          <a:prstGeom prst="rect">
            <a:avLst/>
          </a:prstGeom>
          <a:noFill/>
          <a:ln/>
        </p:spPr>
        <p:txBody>
          <a:bodyPr wrap="square" lIns="0" tIns="0" rIns="0" bIns="0" rtlCol="0" anchor="ctr"/>
          <a:lstStyle/>
          <a:p>
            <a:pPr indent="0" marL="0">
              <a:buNone/>
            </a:pPr>
            <a:r>
              <a:rPr lang="en-US" sz="1300" b="1" dirty="0">
                <a:solidFill>
                  <a:schemeClr val="accent4"/>
                </a:solidFill>
                <a:latin typeface="Calibri" pitchFamily="34" charset="0"/>
                <a:ea typeface="Calibri" pitchFamily="34" charset="-122"/>
                <a:cs typeface="Calibri" pitchFamily="34" charset="-120"/>
              </a:rPr>
              <a:t>~4 weeks later</a:t>
            </a:r>
            <a:endParaRPr lang="en-US" sz="1300" dirty="0"/>
          </a:p>
        </p:txBody>
      </p:sp>
      <p:sp>
        <p:nvSpPr>
          <p:cNvPr id="18" name="Text 16"/>
          <p:cNvSpPr txBox="1"/>
          <p:nvPr/>
        </p:nvSpPr>
        <p:spPr>
          <a:xfrm>
            <a:off x="2926080" y="2926080"/>
            <a:ext cx="576072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TSLA −8%, S&amp;P 500 +2%</a:t>
            </a:r>
            <a:endParaRPr lang="en-US" sz="1500" dirty="0"/>
          </a:p>
        </p:txBody>
      </p:sp>
      <p:sp>
        <p:nvSpPr>
          <p:cNvPr id="19" name="Text 17"/>
          <p:cNvSpPr txBox="1"/>
          <p:nvPr/>
        </p:nvSpPr>
        <p:spPr>
          <a:xfrm>
            <a:off x="2926080" y="3209544"/>
            <a:ext cx="5760720" cy="274320"/>
          </a:xfrm>
          <a:prstGeom prst="rect">
            <a:avLst/>
          </a:prstGeom>
          <a:noFill/>
          <a:ln/>
        </p:spPr>
        <p:txBody>
          <a:bodyPr wrap="square" lIns="0" tIns="0" rIns="0" bIns="0" rtlCol="0" anchor="ctr"/>
          <a:lstStyle/>
          <a:p>
            <a:pPr indent="0" marL="0">
              <a:buNone/>
            </a:pPr>
            <a:r>
              <a:rPr lang="en-US" sz="1200" dirty="0">
                <a:solidFill>
                  <a:srgbClr val="6B7D77"/>
                </a:solidFill>
                <a:latin typeface="Calibri" pitchFamily="34" charset="0"/>
                <a:ea typeface="Calibri" pitchFamily="34" charset="-122"/>
                <a:cs typeface="Calibri" pitchFamily="34" charset="-120"/>
              </a:rPr>
              <a:t>excess return for a short = +10%</a:t>
            </a:r>
            <a:endParaRPr lang="en-US" sz="1200" dirty="0"/>
          </a:p>
        </p:txBody>
      </p:sp>
      <p:sp>
        <p:nvSpPr>
          <p:cNvPr id="20" name="Shape 18"/>
          <p:cNvSpPr/>
          <p:nvPr/>
        </p:nvSpPr>
        <p:spPr>
          <a:xfrm>
            <a:off x="850392" y="3657600"/>
            <a:ext cx="219456" cy="219456"/>
          </a:xfrm>
          <a:prstGeom prst="ellipse">
            <a:avLst/>
          </a:prstGeom>
          <a:solidFill>
            <a:srgbClr val="2E4A43"/>
          </a:solidFill>
          <a:ln w="25400">
            <a:solidFill>
              <a:srgbClr val="FFFFFF"/>
            </a:solidFill>
            <a:prstDash val="solid"/>
          </a:ln>
        </p:spPr>
      </p:sp>
      <p:sp>
        <p:nvSpPr>
          <p:cNvPr id="21" name="Text 19"/>
          <p:cNvSpPr txBox="1"/>
          <p:nvPr/>
        </p:nvSpPr>
        <p:spPr>
          <a:xfrm>
            <a:off x="1280160" y="3584448"/>
            <a:ext cx="1645920" cy="365760"/>
          </a:xfrm>
          <a:prstGeom prst="rect">
            <a:avLst/>
          </a:prstGeom>
          <a:noFill/>
          <a:ln/>
        </p:spPr>
        <p:txBody>
          <a:bodyPr wrap="square" lIns="0" tIns="0" rIns="0" bIns="0" rtlCol="0" anchor="ctr"/>
          <a:lstStyle/>
          <a:p>
            <a:pPr indent="0" marL="0">
              <a:buNone/>
            </a:pPr>
            <a:r>
              <a:rPr lang="en-US" sz="1300" b="1" dirty="0">
                <a:solidFill>
                  <a:schemeClr val="accent4"/>
                </a:solidFill>
                <a:latin typeface="Calibri" pitchFamily="34" charset="0"/>
                <a:ea typeface="Calibri" pitchFamily="34" charset="-122"/>
                <a:cs typeface="Calibri" pitchFamily="34" charset="-120"/>
              </a:rPr>
              <a:t>Then</a:t>
            </a:r>
            <a:endParaRPr lang="en-US" sz="1300" dirty="0"/>
          </a:p>
        </p:txBody>
      </p:sp>
      <p:sp>
        <p:nvSpPr>
          <p:cNvPr id="22" name="Text 20"/>
          <p:cNvSpPr txBox="1"/>
          <p:nvPr/>
        </p:nvSpPr>
        <p:spPr>
          <a:xfrm>
            <a:off x="2926080" y="3547872"/>
            <a:ext cx="5760720" cy="29260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Added to the author's track record</a:t>
            </a:r>
            <a:endParaRPr lang="en-US" sz="1500" dirty="0"/>
          </a:p>
        </p:txBody>
      </p:sp>
      <p:sp>
        <p:nvSpPr>
          <p:cNvPr id="23" name="Text 21"/>
          <p:cNvSpPr txBox="1"/>
          <p:nvPr/>
        </p:nvSpPr>
        <p:spPr>
          <a:xfrm>
            <a:off x="2926080" y="3831336"/>
            <a:ext cx="5760720" cy="274320"/>
          </a:xfrm>
          <a:prstGeom prst="rect">
            <a:avLst/>
          </a:prstGeom>
          <a:noFill/>
          <a:ln/>
        </p:spPr>
        <p:txBody>
          <a:bodyPr wrap="square" lIns="0" tIns="0" rIns="0" bIns="0" rtlCol="0" anchor="ctr"/>
          <a:lstStyle/>
          <a:p>
            <a:pPr indent="0" marL="0">
              <a:buNone/>
            </a:pPr>
            <a:r>
              <a:rPr lang="en-US" sz="1200" dirty="0">
                <a:solidFill>
                  <a:srgbClr val="6B7D77"/>
                </a:solidFill>
                <a:latin typeface="Calibri" pitchFamily="34" charset="0"/>
                <a:ea typeface="Calibri" pitchFamily="34" charset="-122"/>
                <a:cs typeface="Calibri" pitchFamily="34" charset="-120"/>
              </a:rPr>
              <a:t>skill estimate updated; signals reweighted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Three building blocks that make it flow</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554480"/>
                <a:gridCol w="2011680"/>
                <a:gridCol w="2743200"/>
                <a:gridCol w="1920240"/>
              </a:tblGrid>
              <a:tr h="347472">
                <a:tc>
                  <a:txBody>
                    <a:bodyPr/>
                    <a:lstStyle/>
                    <a:p>
                      <a:pPr indent="0" marL="0">
                        <a:buNone/>
                      </a:pPr>
                      <a:endParaRPr lang="en-US" sz="13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1B2A27"/>
                    </a:solidFill>
                  </a:tcPr>
                </a:tc>
                <a:tc>
                  <a:txBody>
                    <a:bodyPr/>
                    <a:lstStyle/>
                    <a:p>
                      <a:pPr indent="0" marL="0">
                        <a:buNone/>
                      </a:pPr>
                      <a:r>
                        <a:rPr lang="en-US" sz="1300" b="1" dirty="0">
                          <a:solidFill>
                            <a:srgbClr val="FFFFFF"/>
                          </a:solidFill>
                        </a:rPr>
                        <a:t>Without it</a:t>
                      </a:r>
                      <a:endParaRPr lang="en-US" sz="13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1B2A27"/>
                    </a:solidFill>
                  </a:tcPr>
                </a:tc>
                <a:tc>
                  <a:txBody>
                    <a:bodyPr/>
                    <a:lstStyle/>
                    <a:p>
                      <a:pPr indent="0" marL="0">
                        <a:buNone/>
                      </a:pPr>
                      <a:r>
                        <a:rPr lang="en-US" sz="1300" b="1" dirty="0">
                          <a:solidFill>
                            <a:srgbClr val="FFFFFF"/>
                          </a:solidFill>
                        </a:rPr>
                        <a:t>What Tally does</a:t>
                      </a:r>
                      <a:endParaRPr lang="en-US" sz="13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1B2A27"/>
                    </a:solidFill>
                  </a:tcPr>
                </a:tc>
                <a:tc>
                  <a:txBody>
                    <a:bodyPr/>
                    <a:lstStyle/>
                    <a:p>
                      <a:pPr indent="0" marL="0">
                        <a:buNone/>
                      </a:pPr>
                      <a:r>
                        <a:rPr lang="en-US" sz="1300" b="1" dirty="0">
                          <a:solidFill>
                            <a:srgbClr val="FFFFFF"/>
                          </a:solidFill>
                        </a:rPr>
                        <a:t>Trade-off</a:t>
                      </a:r>
                      <a:endParaRPr lang="en-US" sz="13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1B2A27"/>
                    </a:solidFill>
                  </a:tcPr>
                </a:tc>
              </a:tr>
              <a:tr h="868680">
                <a:tc>
                  <a:txBody>
                    <a:bodyPr/>
                    <a:lstStyle/>
                    <a:p>
                      <a:pPr indent="0" marL="0">
                        <a:buNone/>
                      </a:pPr>
                      <a:r>
                        <a:rPr lang="en-US" sz="1200" b="1" dirty="0">
                          <a:solidFill>
                            <a:srgbClr val="1B2A27"/>
                          </a:solidFill>
                        </a:rPr>
                        <a:t>Database (Postgres)</a:t>
                      </a:r>
                      <a:endParaRPr lang="en-US" sz="12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indent="0" marL="0">
                        <a:buNone/>
                      </a:pPr>
                      <a:r>
                        <a:rPr lang="en-US" sz="1200" dirty="0">
                          <a:solidFill>
                            <a:srgbClr val="1B2A27"/>
                          </a:solidFill>
                        </a:rPr>
                        <a:t>Results vanish on restart; history could be edited</a:t>
                      </a:r>
                      <a:endParaRPr lang="en-US" sz="12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indent="0" marL="0">
                        <a:buNone/>
                      </a:pPr>
                      <a:r>
                        <a:rPr lang="en-US" sz="1200" dirty="0">
                          <a:solidFill>
                            <a:srgbClr val="1B2A27"/>
                          </a:solidFill>
                        </a:rPr>
                        <a:t>Persists every post, idea and price; ideas are append-only (DB trigger); indexed lookups</a:t>
                      </a:r>
                      <a:endParaRPr lang="en-US" sz="12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indent="0" marL="0">
                        <a:buNone/>
                      </a:pPr>
                      <a:r>
                        <a:rPr lang="en-US" sz="1200" dirty="0">
                          <a:solidFill>
                            <a:srgbClr val="1B2A27"/>
                          </a:solidFill>
                        </a:rPr>
                        <a:t>Schema to maintain; writes slightly slower (indexes)</a:t>
                      </a:r>
                      <a:endParaRPr lang="en-US" sz="12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1B2A27"/>
                          </a:solidFill>
                        </a:rPr>
                        <a:t>Queue</a:t>
                      </a:r>
                      <a:endParaRPr lang="en-US" sz="12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indent="0" marL="0">
                        <a:buNone/>
                      </a:pPr>
                      <a:r>
                        <a:rPr lang="en-US" sz="1200" dirty="0">
                          <a:solidFill>
                            <a:srgbClr val="1B2A27"/>
                          </a:solidFill>
                        </a:rPr>
                        <a:t>API waits 1–5 s per LLM call; bursts blow the rate limit</a:t>
                      </a:r>
                      <a:endParaRPr lang="en-US" sz="12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indent="0" marL="0">
                        <a:buNone/>
                      </a:pPr>
                      <a:r>
                        <a:rPr lang="en-US" sz="1200" dirty="0">
                          <a:solidFill>
                            <a:srgbClr val="1B2A27"/>
                          </a:solidFill>
                        </a:rPr>
                        <a:t>Posts wait in line; workers process at a safe pace and retry failures</a:t>
                      </a:r>
                      <a:endParaRPr lang="en-US" sz="12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indent="0" marL="0">
                        <a:buNone/>
                      </a:pPr>
                      <a:r>
                        <a:rPr lang="en-US" sz="1200" dirty="0">
                          <a:solidFill>
                            <a:srgbClr val="1B2A27"/>
                          </a:solidFill>
                        </a:rPr>
                        <a:t>Results arrive later; more moving parts</a:t>
                      </a:r>
                      <a:endParaRPr lang="en-US" sz="12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1B2A27"/>
                          </a:solidFill>
                        </a:rPr>
                        <a:t>Cache</a:t>
                      </a:r>
                      <a:endParaRPr lang="en-US" sz="12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indent="0" marL="0">
                        <a:buNone/>
                      </a:pPr>
                      <a:r>
                        <a:rPr lang="en-US" sz="1200" dirty="0">
                          <a:solidFill>
                            <a:srgbClr val="1B2A27"/>
                          </a:solidFill>
                        </a:rPr>
                        <a:t>Re-download prices and re-ask the LLM every time</a:t>
                      </a:r>
                      <a:endParaRPr lang="en-US" sz="12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indent="0" marL="0">
                        <a:buNone/>
                      </a:pPr>
                      <a:r>
                        <a:rPr lang="en-US" sz="1200" dirty="0">
                          <a:solidFill>
                            <a:srgbClr val="1B2A27"/>
                          </a:solidFill>
                        </a:rPr>
                        <a:t>Prices kept in Postgres (refresh after 6 h); identical LLM requests reuse answers</a:t>
                      </a:r>
                      <a:endParaRPr lang="en-US" sz="12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indent="0" marL="0">
                        <a:buNone/>
                      </a:pPr>
                      <a:r>
                        <a:rPr lang="en-US" sz="1200" dirty="0">
                          <a:solidFill>
                            <a:srgbClr val="1B2A27"/>
                          </a:solidFill>
                        </a:rPr>
                        <a:t>Data can be up to 6 h stale (fine for daily scoring)</a:t>
                      </a:r>
                      <a:endParaRPr lang="en-US" sz="1200" dirty="0"/>
                    </a:p>
                  </a:txBody>
                  <a:tcPr marL="73152" marR="73152" marT="73152" marB="73152">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The queue: why, and which one</a:t>
            </a:r>
            <a:endParaRPr lang="en-US" sz="3000" dirty="0"/>
          </a:p>
        </p:txBody>
      </p:sp>
      <p:sp>
        <p:nvSpPr>
          <p:cNvPr id="3" name="Text 1"/>
          <p:cNvSpPr txBox="1"/>
          <p:nvPr/>
        </p:nvSpPr>
        <p:spPr>
          <a:xfrm>
            <a:off x="457200" y="1097280"/>
            <a:ext cx="4023360" cy="23774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LLM calls are slow, rate-limited (~6/min free) and sometimes fail, so they run in the background</a:t>
            </a:r>
            <a:endParaRPr lang="en-US" sz="1300" dirty="0"/>
          </a:p>
          <a:p>
            <a:pPr marL="177800" indent="-177800">
              <a:spcAft>
                <a:spcPts val="800"/>
              </a:spcAft>
              <a:buSzPct val="100000"/>
              <a:buChar char="•"/>
            </a:pPr>
            <a:r>
              <a:rPr lang="en-US" sz="1300" dirty="0">
                <a:solidFill>
                  <a:schemeClr val="tx1"/>
                </a:solidFill>
              </a:rPr>
              <a:t>Leases, not locks: a crashed worker's job is picked up again when its lease expires</a:t>
            </a:r>
            <a:endParaRPr lang="en-US" sz="1300" dirty="0"/>
          </a:p>
          <a:p>
            <a:pPr marL="177800" indent="-177800">
              <a:spcAft>
                <a:spcPts val="800"/>
              </a:spcAft>
              <a:buSzPct val="100000"/>
              <a:buChar char="•"/>
            </a:pPr>
            <a:r>
              <a:rPr lang="en-US" sz="1300" dirty="0">
                <a:solidFill>
                  <a:schemeClr val="tx1"/>
                </a:solidFill>
              </a:rPr>
              <a:t>Delivered at least once, so handlers are idempotent (row lock + unique constraint)</a:t>
            </a:r>
            <a:endParaRPr lang="en-US" sz="1300" dirty="0"/>
          </a:p>
          <a:p>
            <a:pPr marL="177800" indent="-177800">
              <a:spcAft>
                <a:spcPts val="800"/>
              </a:spcAft>
              <a:buSzPct val="100000"/>
              <a:buChar char="•"/>
            </a:pPr>
            <a:r>
              <a:rPr lang="en-US" sz="1300" dirty="0">
                <a:solidFill>
                  <a:schemeClr val="tx1"/>
                </a:solidFill>
              </a:rPr>
              <a:t>Built two backends behind one interface and benchmarked them</a:t>
            </a:r>
            <a:endParaRPr lang="en-US" sz="1300" dirty="0"/>
          </a:p>
        </p:txBody>
      </p:sp>
      <p:sp>
        <p:nvSpPr>
          <p:cNvPr id="4" name="stat 0"/>
          <p:cNvSpPr/>
          <p:nvPr/>
        </p:nvSpPr>
        <p:spPr>
          <a:xfrm>
            <a:off x="4754880" y="1051560"/>
            <a:ext cx="3931920" cy="868680"/>
          </a:xfrm>
          <a:prstGeom prst="roundRect">
            <a:avLst>
              <a:gd name="adj" fmla="val 8421"/>
            </a:avLst>
          </a:prstGeom>
          <a:solidFill>
            <a:srgbClr val="EEF4F0"/>
          </a:solidFill>
          <a:ln w="12700">
            <a:solidFill>
              <a:srgbClr val="EEF4F0"/>
            </a:solidFill>
            <a:prstDash val="solid"/>
          </a:ln>
        </p:spPr>
      </p:sp>
      <p:sp>
        <p:nvSpPr>
          <p:cNvPr id="5" name="Text 3"/>
          <p:cNvSpPr txBox="1"/>
          <p:nvPr/>
        </p:nvSpPr>
        <p:spPr>
          <a:xfrm>
            <a:off x="4937760" y="1143000"/>
            <a:ext cx="173736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9×</a:t>
            </a:r>
            <a:endParaRPr lang="en-US" sz="3000" dirty="0"/>
          </a:p>
        </p:txBody>
      </p:sp>
      <p:sp>
        <p:nvSpPr>
          <p:cNvPr id="6" name="Text 4"/>
          <p:cNvSpPr txBox="1"/>
          <p:nvPr/>
        </p:nvSpPr>
        <p:spPr>
          <a:xfrm>
            <a:off x="6720840" y="1170432"/>
            <a:ext cx="1874520" cy="411480"/>
          </a:xfrm>
          <a:prstGeom prst="rect">
            <a:avLst/>
          </a:prstGeom>
          <a:noFill/>
          <a:ln/>
        </p:spPr>
        <p:txBody>
          <a:bodyPr wrap="square" lIns="0" tIns="0" rIns="0" bIns="0"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faster enqueue with Redis</a:t>
            </a:r>
            <a:endParaRPr lang="en-US" sz="1100" dirty="0"/>
          </a:p>
        </p:txBody>
      </p:sp>
      <p:sp>
        <p:nvSpPr>
          <p:cNvPr id="7" name="Text 5"/>
          <p:cNvSpPr txBox="1"/>
          <p:nvPr/>
        </p:nvSpPr>
        <p:spPr>
          <a:xfrm>
            <a:off x="6720840" y="1554480"/>
            <a:ext cx="1874520" cy="274320"/>
          </a:xfrm>
          <a:prstGeom prst="rect">
            <a:avLst/>
          </a:prstGeom>
          <a:noFill/>
          <a:ln/>
        </p:spPr>
        <p:txBody>
          <a:bodyPr wrap="square" lIns="0" tIns="0" rIns="0" bIns="0" rtlCol="0" anchor="ctr"/>
          <a:lstStyle/>
          <a:p>
            <a:pPr indent="0" marL="0">
              <a:buNone/>
            </a:pPr>
            <a:r>
              <a:rPr lang="en-US" sz="1000" dirty="0">
                <a:solidFill>
                  <a:srgbClr val="6B7D77"/>
                </a:solidFill>
                <a:latin typeface="Calibri" pitchFamily="34" charset="0"/>
                <a:ea typeface="Calibri" pitchFamily="34" charset="-122"/>
                <a:cs typeface="Calibri" pitchFamily="34" charset="-120"/>
              </a:rPr>
              <a:t>10,424 vs 1,222 jobs/s</a:t>
            </a:r>
            <a:endParaRPr lang="en-US" sz="1000" dirty="0"/>
          </a:p>
        </p:txBody>
      </p:sp>
      <p:sp>
        <p:nvSpPr>
          <p:cNvPr id="8" name="stat 1"/>
          <p:cNvSpPr/>
          <p:nvPr/>
        </p:nvSpPr>
        <p:spPr>
          <a:xfrm>
            <a:off x="4754880" y="2057400"/>
            <a:ext cx="3931920" cy="868680"/>
          </a:xfrm>
          <a:prstGeom prst="roundRect">
            <a:avLst>
              <a:gd name="adj" fmla="val 8421"/>
            </a:avLst>
          </a:prstGeom>
          <a:solidFill>
            <a:srgbClr val="EEF4F0"/>
          </a:solidFill>
          <a:ln w="12700">
            <a:solidFill>
              <a:srgbClr val="EEF4F0"/>
            </a:solidFill>
            <a:prstDash val="solid"/>
          </a:ln>
        </p:spPr>
      </p:sp>
      <p:sp>
        <p:nvSpPr>
          <p:cNvPr id="9" name="Text 7"/>
          <p:cNvSpPr txBox="1"/>
          <p:nvPr/>
        </p:nvSpPr>
        <p:spPr>
          <a:xfrm>
            <a:off x="4937760" y="2148840"/>
            <a:ext cx="1737360" cy="6858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0.9 vs 136 ms</a:t>
            </a:r>
            <a:endParaRPr lang="en-US" sz="2000" dirty="0"/>
          </a:p>
        </p:txBody>
      </p:sp>
      <p:sp>
        <p:nvSpPr>
          <p:cNvPr id="10" name="Text 8"/>
          <p:cNvSpPr txBox="1"/>
          <p:nvPr/>
        </p:nvSpPr>
        <p:spPr>
          <a:xfrm>
            <a:off x="6720840" y="2176272"/>
            <a:ext cx="1874520" cy="411480"/>
          </a:xfrm>
          <a:prstGeom prst="rect">
            <a:avLst/>
          </a:prstGeom>
          <a:noFill/>
          <a:ln/>
        </p:spPr>
        <p:txBody>
          <a:bodyPr wrap="square" lIns="0" tIns="0" rIns="0" bIns="0"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p95 latency, Redis vs Postgres</a:t>
            </a:r>
            <a:endParaRPr lang="en-US" sz="1100" dirty="0"/>
          </a:p>
        </p:txBody>
      </p:sp>
      <p:sp>
        <p:nvSpPr>
          <p:cNvPr id="11" name="Text 9"/>
          <p:cNvSpPr txBox="1"/>
          <p:nvPr/>
        </p:nvSpPr>
        <p:spPr>
          <a:xfrm>
            <a:off x="6720840" y="2560320"/>
            <a:ext cx="1874520" cy="274320"/>
          </a:xfrm>
          <a:prstGeom prst="rect">
            <a:avLst/>
          </a:prstGeom>
          <a:noFill/>
          <a:ln/>
        </p:spPr>
        <p:txBody>
          <a:bodyPr wrap="square" lIns="0" tIns="0" rIns="0" bIns="0" rtlCol="0" anchor="ctr"/>
          <a:lstStyle/>
          <a:p>
            <a:pPr indent="0" marL="0">
              <a:buNone/>
            </a:pPr>
            <a:r>
              <a:rPr lang="en-US" sz="1000" dirty="0">
                <a:solidFill>
                  <a:srgbClr val="6B7D77"/>
                </a:solidFill>
                <a:latin typeface="Calibri" pitchFamily="34" charset="0"/>
                <a:ea typeface="Calibri" pitchFamily="34" charset="-122"/>
                <a:cs typeface="Calibri" pitchFamily="34" charset="-120"/>
              </a:rPr>
              <a:t>Postgres polls; Redis blocks</a:t>
            </a:r>
            <a:endParaRPr lang="en-US" sz="1000" dirty="0"/>
          </a:p>
        </p:txBody>
      </p:sp>
      <p:sp>
        <p:nvSpPr>
          <p:cNvPr id="12" name="stat 2"/>
          <p:cNvSpPr/>
          <p:nvPr/>
        </p:nvSpPr>
        <p:spPr>
          <a:xfrm>
            <a:off x="4754880" y="3063240"/>
            <a:ext cx="3931920" cy="868680"/>
          </a:xfrm>
          <a:prstGeom prst="roundRect">
            <a:avLst>
              <a:gd name="adj" fmla="val 8421"/>
            </a:avLst>
          </a:prstGeom>
          <a:solidFill>
            <a:srgbClr val="1B2A27"/>
          </a:solidFill>
          <a:ln w="12700">
            <a:solidFill>
              <a:srgbClr val="1B2A27"/>
            </a:solidFill>
            <a:prstDash val="solid"/>
          </a:ln>
        </p:spPr>
      </p:sp>
      <p:sp>
        <p:nvSpPr>
          <p:cNvPr id="13" name="Text 11"/>
          <p:cNvSpPr txBox="1"/>
          <p:nvPr/>
        </p:nvSpPr>
        <p:spPr>
          <a:xfrm>
            <a:off x="4937760" y="3154680"/>
            <a:ext cx="173736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100%</a:t>
            </a:r>
            <a:endParaRPr lang="en-US" sz="3000" dirty="0"/>
          </a:p>
        </p:txBody>
      </p:sp>
      <p:sp>
        <p:nvSpPr>
          <p:cNvPr id="14" name="Text 12"/>
          <p:cNvSpPr txBox="1"/>
          <p:nvPr/>
        </p:nvSpPr>
        <p:spPr>
          <a:xfrm>
            <a:off x="6720840" y="3182112"/>
            <a:ext cx="1874520" cy="411480"/>
          </a:xfrm>
          <a:prstGeom prst="rect">
            <a:avLst/>
          </a:prstGeom>
          <a:noFill/>
          <a:ln/>
        </p:spPr>
        <p:txBody>
          <a:bodyPr wrap="square" lIns="0" tIns="0" rIns="0" bIns="0" rtlCol="0" anchor="ctr"/>
          <a:lstStyle/>
          <a:p>
            <a:pPr indent="0" marL="0">
              <a:buNone/>
            </a:pPr>
            <a:r>
              <a:rPr lang="en-US" sz="1100" b="1" dirty="0">
                <a:solidFill>
                  <a:schemeClr val="bg1"/>
                </a:solidFill>
                <a:latin typeface="Calibri" pitchFamily="34" charset="0"/>
                <a:ea typeface="Calibri" pitchFamily="34" charset="-122"/>
                <a:cs typeface="Calibri" pitchFamily="34" charset="-120"/>
              </a:rPr>
              <a:t>jobs completed with 5% of workers crashing</a:t>
            </a:r>
            <a:endParaRPr lang="en-US" sz="1100" dirty="0"/>
          </a:p>
        </p:txBody>
      </p:sp>
      <p:sp>
        <p:nvSpPr>
          <p:cNvPr id="15" name="Text 13"/>
          <p:cNvSpPr txBox="1"/>
          <p:nvPr/>
        </p:nvSpPr>
        <p:spPr>
          <a:xfrm>
            <a:off x="6720840" y="3566160"/>
            <a:ext cx="187452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every crashed job ran twice</a:t>
            </a:r>
            <a:endParaRPr lang="en-US" sz="1000" dirty="0"/>
          </a:p>
        </p:txBody>
      </p:sp>
      <p:sp>
        <p:nvSpPr>
          <p:cNvPr id="16" name="verdict"/>
          <p:cNvSpPr/>
          <p:nvPr/>
        </p:nvSpPr>
        <p:spPr>
          <a:xfrm>
            <a:off x="457200" y="3611880"/>
            <a:ext cx="4023360" cy="594360"/>
          </a:xfrm>
          <a:prstGeom prst="roundRect">
            <a:avLst>
              <a:gd name="adj" fmla="val 12308"/>
            </a:avLst>
          </a:prstGeom>
          <a:solidFill>
            <a:srgbClr val="EEF4F0"/>
          </a:solidFill>
          <a:ln w="12700">
            <a:solidFill>
              <a:srgbClr val="EEF4F0"/>
            </a:solidFill>
            <a:prstDash val="solid"/>
          </a:ln>
        </p:spPr>
      </p:sp>
      <p:sp>
        <p:nvSpPr>
          <p:cNvPr id="17" name="Text 15"/>
          <p:cNvSpPr txBox="1"/>
          <p:nvPr/>
        </p:nvSpPr>
        <p:spPr>
          <a:xfrm>
            <a:off x="594360" y="3611880"/>
            <a:ext cx="3794760" cy="59436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Chose Postgres anyway: </a:t>
            </a:r>
            <a:pPr indent="0" marL="0">
              <a:buNone/>
            </a:pPr>
            <a:r>
              <a:rPr lang="en-US" sz="1200" dirty="0">
                <a:solidFill>
                  <a:schemeClr val="tx1"/>
                </a:solidFill>
                <a:latin typeface="Calibri" pitchFamily="34" charset="0"/>
                <a:ea typeface="Calibri" pitchFamily="34" charset="-122"/>
                <a:cs typeface="Calibri" pitchFamily="34" charset="-120"/>
              </a:rPr>
              <a:t>the job commits with the post in one transaction, and the LLM, not the queue, is the bottleneck.</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Database and cache</a:t>
            </a:r>
            <a:endParaRPr lang="en-US" sz="3000" dirty="0"/>
          </a:p>
        </p:txBody>
      </p:sp>
      <p:sp>
        <p:nvSpPr>
          <p:cNvPr id="3" name="Database: the honest record"/>
          <p:cNvSpPr/>
          <p:nvPr/>
        </p:nvSpPr>
        <p:spPr>
          <a:xfrm>
            <a:off x="457200" y="1097280"/>
            <a:ext cx="4023360" cy="3154680"/>
          </a:xfrm>
          <a:prstGeom prst="roundRect">
            <a:avLst>
              <a:gd name="adj" fmla="val 2319"/>
            </a:avLst>
          </a:prstGeom>
          <a:solidFill>
            <a:srgbClr val="EEF4F0"/>
          </a:solidFill>
          <a:ln w="12700">
            <a:solidFill>
              <a:srgbClr val="EEF4F0"/>
            </a:solidFill>
            <a:prstDash val="solid"/>
          </a:ln>
        </p:spPr>
      </p:sp>
      <p:sp>
        <p:nvSpPr>
          <p:cNvPr id="4" name="Shape 2"/>
          <p:cNvSpPr/>
          <p:nvPr/>
        </p:nvSpPr>
        <p:spPr>
          <a:xfrm>
            <a:off x="685800" y="128016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04672" y="1399032"/>
            <a:ext cx="219456" cy="219456"/>
          </a:xfrm>
          <a:prstGeom prst="rect">
            <a:avLst/>
          </a:prstGeom>
        </p:spPr>
      </p:pic>
      <p:sp>
        <p:nvSpPr>
          <p:cNvPr id="6" name="Text 3"/>
          <p:cNvSpPr txBox="1"/>
          <p:nvPr/>
        </p:nvSpPr>
        <p:spPr>
          <a:xfrm>
            <a:off x="1280160" y="1280160"/>
            <a:ext cx="306324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Database: the honest record</a:t>
            </a:r>
            <a:endParaRPr lang="en-US" sz="1600" dirty="0"/>
          </a:p>
        </p:txBody>
      </p:sp>
      <p:sp>
        <p:nvSpPr>
          <p:cNvPr id="7" name="Text 4"/>
          <p:cNvSpPr txBox="1"/>
          <p:nvPr/>
        </p:nvSpPr>
        <p:spPr>
          <a:xfrm>
            <a:off x="685800" y="1874520"/>
            <a:ext cx="3611880" cy="228600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chemeClr val="tx1"/>
                </a:solidFill>
              </a:rPr>
              <a:t>Append-only idea log: a trigger rejects UPDATE/DELETE, even from raw SQL</a:t>
            </a:r>
            <a:endParaRPr lang="en-US" sz="1200" dirty="0"/>
          </a:p>
          <a:p>
            <a:pPr marL="177800" indent="-177800">
              <a:spcAft>
                <a:spcPts val="800"/>
              </a:spcAft>
              <a:buSzPct val="100000"/>
              <a:buChar char="•"/>
            </a:pPr>
            <a:r>
              <a:rPr lang="en-US" sz="1200" dirty="0">
                <a:solidFill>
                  <a:schemeClr val="tx1"/>
                </a:solidFill>
              </a:rPr>
              <a:t>Point-in-time: received_at is our clock, not the author's</a:t>
            </a:r>
            <a:endParaRPr lang="en-US" sz="1200" dirty="0"/>
          </a:p>
          <a:p>
            <a:pPr marL="177800" indent="-177800">
              <a:spcAft>
                <a:spcPts val="800"/>
              </a:spcAft>
              <a:buSzPct val="100000"/>
              <a:buChar char="•"/>
            </a:pPr>
            <a:r>
              <a:rPr lang="en-US" sz="1200" dirty="0">
                <a:solidFill>
                  <a:schemeClr val="tx1"/>
                </a:solidFill>
              </a:rPr>
              <a:t>Indexes: unique keys enforce dedupe; a partial index covers only live jobs, so the queue stays fast as history grows</a:t>
            </a:r>
            <a:endParaRPr lang="en-US" sz="1200" dirty="0"/>
          </a:p>
          <a:p>
            <a:pPr marL="177800" indent="-177800">
              <a:spcAft>
                <a:spcPts val="800"/>
              </a:spcAft>
              <a:buSzPct val="100000"/>
              <a:buChar char="•"/>
            </a:pPr>
            <a:r>
              <a:rPr lang="en-US" sz="1200" dirty="0">
                <a:solidFill>
                  <a:schemeClr val="tx1"/>
                </a:solidFill>
              </a:rPr>
              <a:t>Derived tables (marks, scores) can be rebuilt from facts at any time</a:t>
            </a:r>
            <a:endParaRPr lang="en-US" sz="1200" dirty="0"/>
          </a:p>
        </p:txBody>
      </p:sp>
      <p:sp>
        <p:nvSpPr>
          <p:cNvPr id="8" name="Cache: don't fetch twice"/>
          <p:cNvSpPr/>
          <p:nvPr/>
        </p:nvSpPr>
        <p:spPr>
          <a:xfrm>
            <a:off x="4663440" y="1097280"/>
            <a:ext cx="4023360" cy="3154680"/>
          </a:xfrm>
          <a:prstGeom prst="roundRect">
            <a:avLst>
              <a:gd name="adj" fmla="val 2319"/>
            </a:avLst>
          </a:prstGeom>
          <a:solidFill>
            <a:srgbClr val="EEF4F0"/>
          </a:solidFill>
          <a:ln w="12700">
            <a:solidFill>
              <a:srgbClr val="EEF4F0"/>
            </a:solidFill>
            <a:prstDash val="solid"/>
          </a:ln>
        </p:spPr>
      </p:sp>
      <p:sp>
        <p:nvSpPr>
          <p:cNvPr id="9" name="Shape 6"/>
          <p:cNvSpPr/>
          <p:nvPr/>
        </p:nvSpPr>
        <p:spPr>
          <a:xfrm>
            <a:off x="4892040" y="1280160"/>
            <a:ext cx="457200" cy="45720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5010912" y="1399032"/>
            <a:ext cx="219456" cy="219456"/>
          </a:xfrm>
          <a:prstGeom prst="rect">
            <a:avLst/>
          </a:prstGeom>
        </p:spPr>
      </p:pic>
      <p:sp>
        <p:nvSpPr>
          <p:cNvPr id="11" name="Text 7"/>
          <p:cNvSpPr txBox="1"/>
          <p:nvPr/>
        </p:nvSpPr>
        <p:spPr>
          <a:xfrm>
            <a:off x="5486400" y="1280160"/>
            <a:ext cx="306324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Cache: don't fetch twice</a:t>
            </a:r>
            <a:endParaRPr lang="en-US" sz="1600" dirty="0"/>
          </a:p>
        </p:txBody>
      </p:sp>
      <p:sp>
        <p:nvSpPr>
          <p:cNvPr id="12" name="Text 8"/>
          <p:cNvSpPr txBox="1"/>
          <p:nvPr/>
        </p:nvSpPr>
        <p:spPr>
          <a:xfrm>
            <a:off x="4892040" y="1874520"/>
            <a:ext cx="3611880" cy="228600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chemeClr val="tx1"/>
                </a:solidFill>
              </a:rPr>
              <a:t>Price read-through cache: Yahoo is free but rate-limited, so each ticker is fetched once</a:t>
            </a:r>
            <a:endParaRPr lang="en-US" sz="1200" dirty="0"/>
          </a:p>
          <a:p>
            <a:pPr marL="177800" indent="-177800">
              <a:spcAft>
                <a:spcPts val="800"/>
              </a:spcAft>
              <a:buSzPct val="100000"/>
              <a:buChar char="•"/>
            </a:pPr>
            <a:r>
              <a:rPr lang="en-US" sz="1200" dirty="0">
                <a:solidFill>
                  <a:schemeClr val="tx1"/>
                </a:solidFill>
              </a:rPr>
              <a:t>Refetch the whole range on refresh, because adjusted prices change after dividends</a:t>
            </a:r>
            <a:endParaRPr lang="en-US" sz="1200" dirty="0"/>
          </a:p>
          <a:p>
            <a:pPr marL="177800" indent="-177800">
              <a:spcAft>
                <a:spcPts val="800"/>
              </a:spcAft>
              <a:buSzPct val="100000"/>
              <a:buChar char="•"/>
            </a:pPr>
            <a:r>
              <a:rPr lang="en-US" sz="1200" dirty="0">
                <a:solidFill>
                  <a:schemeClr val="tx1"/>
                </a:solidFill>
              </a:rPr>
              <a:t>LLM response cache: same text, same answer, no extra quota used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Is the LLM right? Measured, not assumed</a:t>
            </a:r>
            <a:endParaRPr lang="en-US" sz="3000" dirty="0"/>
          </a:p>
        </p:txBody>
      </p:sp>
      <p:graphicFrame>
        <p:nvGraphicFramePr>
          <p:cNvPr id="3" name="Chart 0" descr=""/>
          <p:cNvGraphicFramePr/>
          <p:nvPr/>
        </p:nvGraphicFramePr>
        <p:xfrm>
          <a:off x="457200" y="1051560"/>
          <a:ext cx="4572000" cy="3200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303520" y="1188720"/>
            <a:ext cx="3383280" cy="301752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chemeClr val="tx1"/>
                </a:solidFill>
              </a:rPr>
              <a:t>Hard cases on purpose: sarcasm, buying vs selling puts, questions, hearsay, prompt injection</a:t>
            </a:r>
            <a:endParaRPr lang="en-US" sz="1200" dirty="0"/>
          </a:p>
          <a:p>
            <a:pPr marL="177800" indent="-177800">
              <a:spcAft>
                <a:spcPts val="800"/>
              </a:spcAft>
              <a:buSzPct val="100000"/>
              <a:buChar char="•"/>
            </a:pPr>
            <a:r>
              <a:rPr lang="en-US" sz="1200" dirty="0">
                <a:solidFill>
                  <a:schemeClr val="tx1"/>
                </a:solidFill>
              </a:rPr>
              <a:t>A provider 500 error was scored as “wrong”, so the eval now retries and reports outages separately</a:t>
            </a:r>
            <a:endParaRPr lang="en-US" sz="1200" dirty="0"/>
          </a:p>
          <a:p>
            <a:pPr marL="177800" indent="-177800">
              <a:spcAft>
                <a:spcPts val="800"/>
              </a:spcAft>
              <a:buSzPct val="100000"/>
              <a:buChar char="•"/>
            </a:pPr>
            <a:r>
              <a:rPr lang="en-US" sz="1200" dirty="0">
                <a:solidFill>
                  <a:schemeClr val="tx1"/>
                </a:solidFill>
              </a:rPr>
              <a:t>One arguable label left unchanged: editing labels after seeing outputs is how evals overfit</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Testing a skill meter: plant the skill</a:t>
            </a:r>
            <a:endParaRPr lang="en-US" sz="3000" dirty="0"/>
          </a:p>
        </p:txBody>
      </p:sp>
      <p:sp>
        <p:nvSpPr>
          <p:cNvPr id="3" name="why simulate"/>
          <p:cNvSpPr/>
          <p:nvPr/>
        </p:nvSpPr>
        <p:spPr>
          <a:xfrm>
            <a:off x="457200" y="1097280"/>
            <a:ext cx="3749040" cy="3154680"/>
          </a:xfrm>
          <a:prstGeom prst="roundRect">
            <a:avLst>
              <a:gd name="adj" fmla="val 2319"/>
            </a:avLst>
          </a:prstGeom>
          <a:solidFill>
            <a:srgbClr val="EEF4F0"/>
          </a:solidFill>
          <a:ln w="12700">
            <a:solidFill>
              <a:srgbClr val="EEF4F0"/>
            </a:solidFill>
            <a:prstDash val="solid"/>
          </a:ln>
        </p:spPr>
      </p:sp>
      <p:sp>
        <p:nvSpPr>
          <p:cNvPr id="4" name="Shape 2"/>
          <p:cNvSpPr/>
          <p:nvPr/>
        </p:nvSpPr>
        <p:spPr>
          <a:xfrm>
            <a:off x="685800" y="128016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04672" y="1399032"/>
            <a:ext cx="219456" cy="219456"/>
          </a:xfrm>
          <a:prstGeom prst="rect">
            <a:avLst/>
          </a:prstGeom>
        </p:spPr>
      </p:pic>
      <p:sp>
        <p:nvSpPr>
          <p:cNvPr id="6" name="Text 3"/>
          <p:cNvSpPr txBox="1"/>
          <p:nvPr/>
        </p:nvSpPr>
        <p:spPr>
          <a:xfrm>
            <a:off x="1280160" y="1280160"/>
            <a:ext cx="27432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Why simulate?</a:t>
            </a:r>
            <a:endParaRPr lang="en-US" sz="1600" dirty="0"/>
          </a:p>
        </p:txBody>
      </p:sp>
      <p:sp>
        <p:nvSpPr>
          <p:cNvPr id="7" name="Text 4"/>
          <p:cNvSpPr txBox="1"/>
          <p:nvPr/>
        </p:nvSpPr>
        <p:spPr>
          <a:xfrm>
            <a:off x="685800" y="1874520"/>
            <a:ext cx="3337560" cy="228600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chemeClr val="tx1"/>
                </a:solidFill>
              </a:rPr>
              <a:t>Real ideas take ~4 weeks to close, so a new system starts with an empty leaderboard</a:t>
            </a:r>
            <a:endParaRPr lang="en-US" sz="1200" dirty="0"/>
          </a:p>
          <a:p>
            <a:pPr marL="177800" indent="-177800">
              <a:spcAft>
                <a:spcPts val="800"/>
              </a:spcAft>
              <a:buSzPct val="100000"/>
              <a:buChar char="•"/>
            </a:pPr>
            <a:r>
              <a:rPr lang="en-US" sz="1200" dirty="0">
                <a:solidFill>
                  <a:schemeClr val="tx1"/>
                </a:solidFill>
              </a:rPr>
              <a:t>No one knows a real person's true skill, so real data can't tell us if the scorer is right</a:t>
            </a:r>
            <a:endParaRPr lang="en-US" sz="1200" dirty="0"/>
          </a:p>
          <a:p>
            <a:pPr marL="177800" indent="-177800">
              <a:spcAft>
                <a:spcPts val="800"/>
              </a:spcAft>
              <a:buSzPct val="100000"/>
              <a:buChar char="•"/>
            </a:pPr>
            <a:r>
              <a:rPr lang="en-US" sz="1200" dirty="0">
                <a:solidFill>
                  <a:schemeClr val="tx1"/>
                </a:solidFill>
              </a:rPr>
              <a:t>Like testing a thermometer in water you already know is 100°C</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480560" y="1097280"/>
          <a:ext cx="4206240" cy="914400"/>
        </p:xfrm>
        <a:graphic>
          <a:graphicData uri="http://schemas.openxmlformats.org/drawingml/2006/table">
            <a:tbl>
              <a:tblPr/>
              <a:tblGrid>
                <a:gridCol w="2103120"/>
                <a:gridCol w="1280160"/>
                <a:gridCol w="822960"/>
              </a:tblGrid>
              <a:tr h="292608">
                <a:tc>
                  <a:txBody>
                    <a:bodyPr/>
                    <a:lstStyle/>
                    <a:p>
                      <a:pPr indent="0" marL="0">
                        <a:buNone/>
                      </a:pPr>
                      <a:r>
                        <a:rPr lang="en-US" sz="1100" b="1" dirty="0">
                          <a:solidFill>
                            <a:srgbClr val="FFFFFF"/>
                          </a:solidFill>
                        </a:rPr>
                        <a:t>Persona</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1B2A27"/>
                    </a:solidFill>
                  </a:tcPr>
                </a:tc>
                <a:tc>
                  <a:txBody>
                    <a:bodyPr/>
                    <a:lstStyle/>
                    <a:p>
                      <a:pPr indent="0" marL="0">
                        <a:buNone/>
                      </a:pPr>
                      <a:r>
                        <a:rPr lang="en-US" sz="1100" b="1" dirty="0">
                          <a:solidFill>
                            <a:srgbClr val="FFFFFF"/>
                          </a:solidFill>
                        </a:rPr>
                        <a:t>Planted accuracy</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1B2A27"/>
                    </a:solidFill>
                  </a:tcPr>
                </a:tc>
                <a:tc>
                  <a:txBody>
                    <a:bodyPr/>
                    <a:lstStyle/>
                    <a:p>
                      <a:pPr indent="0" marL="0">
                        <a:buNone/>
                      </a:pPr>
                      <a:r>
                        <a:rPr lang="en-US" sz="1100" b="1" dirty="0">
                          <a:solidFill>
                            <a:srgbClr val="FFFFFF"/>
                          </a:solidFill>
                        </a:rPr>
                        <a:t>Ideas</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1B2A27"/>
                    </a:solidFill>
                  </a:tcPr>
                </a:tc>
              </a:tr>
              <a:tr h="292608">
                <a:tc>
                  <a:txBody>
                    <a:bodyPr/>
                    <a:lstStyle/>
                    <a:p>
                      <a:pPr indent="0" marL="0">
                        <a:buNone/>
                      </a:pPr>
                      <a:r>
                        <a:rPr lang="en-US" sz="1100" dirty="0">
                          <a:solidFill>
                            <a:srgbClr val="1B2A27"/>
                          </a:solidFill>
                          <a:latin typeface="Courier New" pitchFamily="34" charset="0"/>
                          <a:ea typeface="Courier New" pitchFamily="34" charset="-122"/>
                          <a:cs typeface="Courier New" pitchFamily="34" charset="-120"/>
                        </a:rPr>
                        <a:t>sim_sharp_analyst</a:t>
                      </a:r>
                      <a:endParaRPr lang="en-US" sz="1100" dirty="0">
                        <a:latin typeface="Courier New" charset="0"/>
                        <a:ea typeface="Courier New" charset="0"/>
                        <a:cs typeface="Courier New" charset="0"/>
                      </a:endParaRPr>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7"/>
                          </a:solidFill>
                        </a:rPr>
                        <a:t>68%</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7"/>
                          </a:solidFill>
                        </a:rPr>
                        <a:t>60</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1B2A27"/>
                          </a:solidFill>
                          <a:latin typeface="Courier New" pitchFamily="34" charset="0"/>
                          <a:ea typeface="Courier New" pitchFamily="34" charset="-122"/>
                          <a:cs typeface="Courier New" pitchFamily="34" charset="-120"/>
                        </a:rPr>
                        <a:t>sim_steady_pm</a:t>
                      </a:r>
                      <a:endParaRPr lang="en-US" sz="1100" dirty="0">
                        <a:latin typeface="Courier New" charset="0"/>
                        <a:ea typeface="Courier New" charset="0"/>
                        <a:cs typeface="Courier New" charset="0"/>
                      </a:endParaRPr>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7"/>
                          </a:solidFill>
                        </a:rPr>
                        <a:t>58%</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7"/>
                          </a:solidFill>
                        </a:rPr>
                        <a:t>120</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1B2A27"/>
                          </a:solidFill>
                          <a:latin typeface="Courier New" pitchFamily="34" charset="0"/>
                          <a:ea typeface="Courier New" pitchFamily="34" charset="-122"/>
                          <a:cs typeface="Courier New" pitchFamily="34" charset="-120"/>
                        </a:rPr>
                        <a:t>sim_coin_flipper</a:t>
                      </a:r>
                      <a:endParaRPr lang="en-US" sz="1100" dirty="0">
                        <a:latin typeface="Courier New" charset="0"/>
                        <a:ea typeface="Courier New" charset="0"/>
                        <a:cs typeface="Courier New" charset="0"/>
                      </a:endParaRPr>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7"/>
                          </a:solidFill>
                        </a:rPr>
                        <a:t>50%</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7"/>
                          </a:solidFill>
                        </a:rPr>
                        <a:t>80</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1B2A27"/>
                          </a:solidFill>
                          <a:latin typeface="Courier New" pitchFamily="34" charset="0"/>
                          <a:ea typeface="Courier New" pitchFamily="34" charset="-122"/>
                          <a:cs typeface="Courier New" pitchFamily="34" charset="-120"/>
                        </a:rPr>
                        <a:t>sim_contrarian_fader</a:t>
                      </a:r>
                      <a:endParaRPr lang="en-US" sz="1100" dirty="0">
                        <a:latin typeface="Courier New" charset="0"/>
                        <a:ea typeface="Courier New" charset="0"/>
                        <a:cs typeface="Courier New" charset="0"/>
                      </a:endParaRPr>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7"/>
                          </a:solidFill>
                        </a:rPr>
                        <a:t>38%</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7"/>
                          </a:solidFill>
                        </a:rPr>
                        <a:t>60</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1B2A27"/>
                          </a:solidFill>
                          <a:latin typeface="Courier New" pitchFamily="34" charset="0"/>
                          <a:ea typeface="Courier New" pitchFamily="34" charset="-122"/>
                          <a:cs typeface="Courier New" pitchFamily="34" charset="-120"/>
                        </a:rPr>
                        <a:t>sim_hot_hand</a:t>
                      </a:r>
                      <a:endParaRPr lang="en-US" sz="1100" dirty="0">
                        <a:latin typeface="Courier New" charset="0"/>
                        <a:ea typeface="Courier New" charset="0"/>
                        <a:cs typeface="Courier New" charset="0"/>
                      </a:endParaRPr>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7"/>
                          </a:solidFill>
                        </a:rPr>
                        <a:t>55%</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7"/>
                          </a:solidFill>
                        </a:rPr>
                        <a:t>8</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1B2A27"/>
                          </a:solidFill>
                          <a:latin typeface="Courier New" pitchFamily="34" charset="0"/>
                          <a:ea typeface="Courier New" pitchFamily="34" charset="-122"/>
                          <a:cs typeface="Courier New" pitchFamily="34" charset="-120"/>
                        </a:rPr>
                        <a:t>sim_lucky_streak</a:t>
                      </a:r>
                      <a:endParaRPr lang="en-US" sz="1100" dirty="0">
                        <a:latin typeface="Courier New" charset="0"/>
                        <a:ea typeface="Courier New" charset="0"/>
                        <a:cs typeface="Courier New" charset="0"/>
                      </a:endParaRPr>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7"/>
                          </a:solidFill>
                        </a:rPr>
                        <a:t>100%</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7"/>
                          </a:solidFill>
                        </a:rPr>
                        <a:t>3</a:t>
                      </a:r>
                      <a:endParaRPr lang="en-US" sz="1100" dirty="0"/>
                    </a:p>
                  </a:txBody>
                  <a:tcPr marL="54864" marR="54864" marT="54864" marB="54864">
                    <a:lnL w="9525" cap="flat" cmpd="sng" algn="ctr">
                      <a:solidFill>
                        <a:srgbClr val="D5E0DB"/>
                      </a:solidFill>
                      <a:prstDash val="solid"/>
                      <a:round/>
                      <a:headEnd type="none" w="med" len="med"/>
                      <a:tailEnd type="none" w="med" len="med"/>
                    </a:lnL>
                    <a:lnR w="9525" cap="flat" cmpd="sng" algn="ctr">
                      <a:solidFill>
                        <a:srgbClr val="D5E0DB"/>
                      </a:solidFill>
                      <a:prstDash val="solid"/>
                      <a:round/>
                      <a:headEnd type="none" w="med" len="med"/>
                      <a:tailEnd type="none" w="med" len="med"/>
                    </a:lnR>
                    <a:lnT w="9525" cap="flat" cmpd="sng" algn="ctr">
                      <a:solidFill>
                        <a:srgbClr val="D5E0DB"/>
                      </a:solidFill>
                      <a:prstDash val="solid"/>
                      <a:round/>
                      <a:headEnd type="none" w="med" len="med"/>
                      <a:tailEnd type="none" w="med" len="med"/>
                    </a:lnT>
                    <a:lnB w="9525" cap="flat" cmpd="sng" algn="ctr">
                      <a:solidFill>
                        <a:srgbClr val="D5E0DB"/>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4480560" y="3291840"/>
            <a:ext cx="4206240" cy="822960"/>
          </a:xfrm>
          <a:prstGeom prst="rect">
            <a:avLst/>
          </a:prstGeom>
          <a:noFill/>
          <a:ln/>
        </p:spPr>
        <p:txBody>
          <a:bodyPr wrap="square" lIns="0" tIns="0" rIns="0" bIns="0" rtlCol="0" anchor="ctr"/>
          <a:lstStyle/>
          <a:p>
            <a:pPr indent="0" marL="0">
              <a:buNone/>
            </a:pPr>
            <a:r>
              <a:rPr lang="en-US" sz="1200" i="1" dirty="0">
                <a:solidFill>
                  <a:srgbClr val="6B7D77"/>
                </a:solidFill>
                <a:latin typeface="Calibri" pitchFamily="34" charset="0"/>
                <a:ea typeface="Calibri" pitchFamily="34" charset="-122"/>
                <a:cs typeface="Calibri" pitchFamily="34" charset="-120"/>
              </a:rPr>
              <a:t>~400 ideas on real Yahoo prices. The simulator peeks at real outcomes to plant each persona's accuracy; the scorer runs blind.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Did it work, and why not just use old posts?</a:t>
            </a:r>
            <a:endParaRPr lang="en-US" sz="3000" dirty="0"/>
          </a:p>
        </p:txBody>
      </p:sp>
      <p:sp>
        <p:nvSpPr>
          <p:cNvPr id="3" name="results"/>
          <p:cNvSpPr/>
          <p:nvPr/>
        </p:nvSpPr>
        <p:spPr>
          <a:xfrm>
            <a:off x="457200" y="1097280"/>
            <a:ext cx="3931920" cy="3154680"/>
          </a:xfrm>
          <a:prstGeom prst="roundRect">
            <a:avLst>
              <a:gd name="adj" fmla="val 2319"/>
            </a:avLst>
          </a:prstGeom>
          <a:solidFill>
            <a:srgbClr val="1B2A27"/>
          </a:solidFill>
          <a:ln w="12700">
            <a:solidFill>
              <a:srgbClr val="1B2A27"/>
            </a:solidFill>
            <a:prstDash val="solid"/>
          </a:ln>
        </p:spPr>
      </p:sp>
      <p:sp>
        <p:nvSpPr>
          <p:cNvPr id="4" name="Text 2"/>
          <p:cNvSpPr txBox="1"/>
          <p:nvPr/>
        </p:nvSpPr>
        <p:spPr>
          <a:xfrm>
            <a:off x="685800" y="1234440"/>
            <a:ext cx="3474720"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RESULTS · fill in from your run</a:t>
            </a:r>
            <a:endParaRPr lang="en-US" sz="1100" dirty="0"/>
          </a:p>
        </p:txBody>
      </p:sp>
      <p:sp>
        <p:nvSpPr>
          <p:cNvPr id="5" name="Text 3"/>
          <p:cNvSpPr txBox="1"/>
          <p:nvPr/>
        </p:nvSpPr>
        <p:spPr>
          <a:xfrm>
            <a:off x="685800" y="1508760"/>
            <a:ext cx="3474720" cy="274320"/>
          </a:xfrm>
          <a:prstGeom prst="rect">
            <a:avLst/>
          </a:prstGeom>
          <a:noFill/>
          <a:ln/>
        </p:spPr>
        <p:txBody>
          <a:bodyPr wrap="square" lIns="0" tIns="0" rIns="0" bIns="0" rtlCol="0" anchor="ctr"/>
          <a:lstStyle/>
          <a:p>
            <a:pPr indent="0" marL="0">
              <a:buNone/>
            </a:pPr>
            <a:r>
              <a:rPr lang="en-US" sz="1000" dirty="0">
                <a:solidFill>
                  <a:schemeClr val="accent5"/>
                </a:solidFill>
                <a:latin typeface="Courier New" pitchFamily="34" charset="0"/>
                <a:ea typeface="Courier New" pitchFamily="34" charset="-122"/>
                <a:cs typeface="Courier New" pitchFamily="34" charset="-120"/>
              </a:rPr>
              <a:t>python -m tally simulate --report-only</a:t>
            </a:r>
            <a:endParaRPr lang="en-US" sz="1000" dirty="0"/>
          </a:p>
        </p:txBody>
      </p:sp>
      <p:sp>
        <p:nvSpPr>
          <p:cNvPr id="6" name="Text 4"/>
          <p:cNvSpPr txBox="1"/>
          <p:nvPr/>
        </p:nvSpPr>
        <p:spPr>
          <a:xfrm>
            <a:off x="685800" y="1965960"/>
            <a:ext cx="3474720" cy="274320"/>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sim_lucky_streak: raw rank</a:t>
            </a:r>
            <a:endParaRPr lang="en-US" sz="1200" dirty="0"/>
          </a:p>
        </p:txBody>
      </p:sp>
      <p:sp>
        <p:nvSpPr>
          <p:cNvPr id="7" name="Text 5"/>
          <p:cNvSpPr txBox="1"/>
          <p:nvPr/>
        </p:nvSpPr>
        <p:spPr>
          <a:xfrm>
            <a:off x="685800" y="2221992"/>
            <a:ext cx="3474720" cy="347472"/>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 ]  then shrunk #[ ]</a:t>
            </a:r>
            <a:endParaRPr lang="en-US" sz="1800" dirty="0"/>
          </a:p>
        </p:txBody>
      </p:sp>
      <p:sp>
        <p:nvSpPr>
          <p:cNvPr id="8" name="Text 6"/>
          <p:cNvSpPr txBox="1"/>
          <p:nvPr/>
        </p:nvSpPr>
        <p:spPr>
          <a:xfrm>
            <a:off x="685800" y="2651760"/>
            <a:ext cx="3474720" cy="274320"/>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Rank correlation with truth</a:t>
            </a:r>
            <a:endParaRPr lang="en-US" sz="1200" dirty="0"/>
          </a:p>
        </p:txBody>
      </p:sp>
      <p:sp>
        <p:nvSpPr>
          <p:cNvPr id="9" name="Text 7"/>
          <p:cNvSpPr txBox="1"/>
          <p:nvPr/>
        </p:nvSpPr>
        <p:spPr>
          <a:xfrm>
            <a:off x="685800" y="2907792"/>
            <a:ext cx="3474720" cy="347472"/>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raw [ ]  vs  shrunk [ ]</a:t>
            </a:r>
            <a:endParaRPr lang="en-US" sz="1800" dirty="0"/>
          </a:p>
        </p:txBody>
      </p:sp>
      <p:sp>
        <p:nvSpPr>
          <p:cNvPr id="10" name="Text 8"/>
          <p:cNvSpPr txBox="1"/>
          <p:nvPr/>
        </p:nvSpPr>
        <p:spPr>
          <a:xfrm>
            <a:off x="685800" y="3383280"/>
            <a:ext cx="3474720" cy="731520"/>
          </a:xfrm>
          <a:prstGeom prst="rect">
            <a:avLst/>
          </a:prstGeom>
          <a:noFill/>
          <a:ln/>
        </p:spPr>
        <p:txBody>
          <a:bodyPr wrap="square" lIns="0" tIns="0" rIns="0" bIns="0" rtlCol="0" anchor="ctr"/>
          <a:lstStyle/>
          <a:p>
            <a:pPr indent="0" marL="0">
              <a:buNone/>
            </a:pPr>
            <a:r>
              <a:rPr lang="en-US" sz="1100" i="1" dirty="0">
                <a:solidFill>
                  <a:schemeClr val="accent5"/>
                </a:solidFill>
                <a:latin typeface="Calibri" pitchFamily="34" charset="0"/>
                <a:ea typeface="Calibri" pitchFamily="34" charset="-122"/>
                <a:cs typeface="Calibri" pitchFamily="34" charset="-120"/>
              </a:rPr>
              <a:t>It also caught a real bug: tiny accounts were dragging the skill-spread estimate to zero, flattening every score.</a:t>
            </a:r>
            <a:endParaRPr lang="en-US" sz="1100" dirty="0"/>
          </a:p>
        </p:txBody>
      </p:sp>
      <p:sp>
        <p:nvSpPr>
          <p:cNvPr id="11" name="Shape 9"/>
          <p:cNvSpPr/>
          <p:nvPr/>
        </p:nvSpPr>
        <p:spPr>
          <a:xfrm>
            <a:off x="4663440" y="1143000"/>
            <a:ext cx="411480" cy="411480"/>
          </a:xfrm>
          <a:prstGeom prst="ellipse">
            <a:avLst/>
          </a:prstGeom>
          <a:solidFill>
            <a:schemeClr val="tx2"/>
          </a:solidFill>
          <a:ln w="12700">
            <a:solidFill>
              <a:schemeClr val="tx2"/>
            </a:solidFill>
            <a:prstDash val="solid"/>
          </a:ln>
        </p:spPr>
      </p:sp>
      <p:pic>
        <p:nvPicPr>
          <p:cNvPr id="12" name="Image 0" descr="preencoded.png">    </p:cNvPr>
          <p:cNvPicPr>
            <a:picLocks noChangeAspect="1"/>
          </p:cNvPicPr>
          <p:nvPr/>
        </p:nvPicPr>
        <p:blipFill>
          <a:blip r:embed="rId1"/>
          <a:stretch>
            <a:fillRect/>
          </a:stretch>
        </p:blipFill>
        <p:spPr>
          <a:xfrm>
            <a:off x="4770425" y="1249985"/>
            <a:ext cx="197510" cy="197510"/>
          </a:xfrm>
          <a:prstGeom prst="rect">
            <a:avLst/>
          </a:prstGeom>
        </p:spPr>
      </p:pic>
      <p:sp>
        <p:nvSpPr>
          <p:cNvPr id="13" name="Text 10"/>
          <p:cNvSpPr txBox="1"/>
          <p:nvPr/>
        </p:nvSpPr>
        <p:spPr>
          <a:xfrm>
            <a:off x="5212080" y="1115568"/>
            <a:ext cx="3474720" cy="27432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Hindsight</a:t>
            </a:r>
            <a:endParaRPr lang="en-US" sz="1400" dirty="0"/>
          </a:p>
        </p:txBody>
      </p:sp>
      <p:sp>
        <p:nvSpPr>
          <p:cNvPr id="14" name="Text 11"/>
          <p:cNvSpPr txBox="1"/>
          <p:nvPr/>
        </p:nvSpPr>
        <p:spPr>
          <a:xfrm>
            <a:off x="5212080" y="1389888"/>
            <a:ext cx="347472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Posts get edited after the fact</a:t>
            </a:r>
            <a:endParaRPr lang="en-US" sz="1200" dirty="0"/>
          </a:p>
        </p:txBody>
      </p:sp>
      <p:sp>
        <p:nvSpPr>
          <p:cNvPr id="15" name="Shape 12"/>
          <p:cNvSpPr/>
          <p:nvPr/>
        </p:nvSpPr>
        <p:spPr>
          <a:xfrm>
            <a:off x="4663440" y="1920240"/>
            <a:ext cx="411480" cy="411480"/>
          </a:xfrm>
          <a:prstGeom prst="ellipse">
            <a:avLst/>
          </a:prstGeom>
          <a:solidFill>
            <a:schemeClr val="tx2"/>
          </a:solidFill>
          <a:ln w="12700">
            <a:solidFill>
              <a:schemeClr val="tx2"/>
            </a:solidFill>
            <a:prstDash val="solid"/>
          </a:ln>
        </p:spPr>
      </p:sp>
      <p:pic>
        <p:nvPicPr>
          <p:cNvPr id="16" name="Image 1" descr="preencoded.png">    </p:cNvPr>
          <p:cNvPicPr>
            <a:picLocks noChangeAspect="1"/>
          </p:cNvPicPr>
          <p:nvPr/>
        </p:nvPicPr>
        <p:blipFill>
          <a:blip r:embed="rId2"/>
          <a:stretch>
            <a:fillRect/>
          </a:stretch>
        </p:blipFill>
        <p:spPr>
          <a:xfrm>
            <a:off x="4770425" y="2027225"/>
            <a:ext cx="197510" cy="197510"/>
          </a:xfrm>
          <a:prstGeom prst="rect">
            <a:avLst/>
          </a:prstGeom>
        </p:spPr>
      </p:pic>
      <p:sp>
        <p:nvSpPr>
          <p:cNvPr id="17" name="Text 13"/>
          <p:cNvSpPr txBox="1"/>
          <p:nvPr/>
        </p:nvSpPr>
        <p:spPr>
          <a:xfrm>
            <a:off x="5212080" y="1892808"/>
            <a:ext cx="3474720" cy="27432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Survivorship</a:t>
            </a:r>
            <a:endParaRPr lang="en-US" sz="1400" dirty="0"/>
          </a:p>
        </p:txBody>
      </p:sp>
      <p:sp>
        <p:nvSpPr>
          <p:cNvPr id="18" name="Text 14"/>
          <p:cNvSpPr txBox="1"/>
          <p:nvPr/>
        </p:nvSpPr>
        <p:spPr>
          <a:xfrm>
            <a:off x="5212080" y="2167128"/>
            <a:ext cx="347472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Bad calls get deleted; we'd only see winners</a:t>
            </a:r>
            <a:endParaRPr lang="en-US" sz="1200" dirty="0"/>
          </a:p>
        </p:txBody>
      </p:sp>
      <p:sp>
        <p:nvSpPr>
          <p:cNvPr id="19" name="Shape 15"/>
          <p:cNvSpPr/>
          <p:nvPr/>
        </p:nvSpPr>
        <p:spPr>
          <a:xfrm>
            <a:off x="4663440" y="2697480"/>
            <a:ext cx="411480" cy="411480"/>
          </a:xfrm>
          <a:prstGeom prst="ellipse">
            <a:avLst/>
          </a:prstGeom>
          <a:solidFill>
            <a:schemeClr val="tx2"/>
          </a:solidFill>
          <a:ln w="12700">
            <a:solidFill>
              <a:schemeClr val="tx2"/>
            </a:solidFill>
            <a:prstDash val="solid"/>
          </a:ln>
        </p:spPr>
      </p:sp>
      <p:pic>
        <p:nvPicPr>
          <p:cNvPr id="20" name="Image 2" descr="preencoded.png">    </p:cNvPr>
          <p:cNvPicPr>
            <a:picLocks noChangeAspect="1"/>
          </p:cNvPicPr>
          <p:nvPr/>
        </p:nvPicPr>
        <p:blipFill>
          <a:blip r:embed="rId3"/>
          <a:stretch>
            <a:fillRect/>
          </a:stretch>
        </p:blipFill>
        <p:spPr>
          <a:xfrm>
            <a:off x="4770425" y="2804465"/>
            <a:ext cx="197510" cy="197510"/>
          </a:xfrm>
          <a:prstGeom prst="rect">
            <a:avLst/>
          </a:prstGeom>
        </p:spPr>
      </p:pic>
      <p:sp>
        <p:nvSpPr>
          <p:cNvPr id="21" name="Text 16"/>
          <p:cNvSpPr txBox="1"/>
          <p:nvPr/>
        </p:nvSpPr>
        <p:spPr>
          <a:xfrm>
            <a:off x="5212080" y="2670048"/>
            <a:ext cx="3474720" cy="27432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No ground truth</a:t>
            </a:r>
            <a:endParaRPr lang="en-US" sz="1400" dirty="0"/>
          </a:p>
        </p:txBody>
      </p:sp>
      <p:sp>
        <p:nvSpPr>
          <p:cNvPr id="22" name="Text 17"/>
          <p:cNvSpPr txBox="1"/>
          <p:nvPr/>
        </p:nvSpPr>
        <p:spPr>
          <a:xfrm>
            <a:off x="5212080" y="2944368"/>
            <a:ext cx="347472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Still no way to know true skill</a:t>
            </a:r>
            <a:endParaRPr lang="en-US" sz="1200" dirty="0"/>
          </a:p>
        </p:txBody>
      </p:sp>
      <p:sp>
        <p:nvSpPr>
          <p:cNvPr id="23" name="Shape 18"/>
          <p:cNvSpPr/>
          <p:nvPr/>
        </p:nvSpPr>
        <p:spPr>
          <a:xfrm>
            <a:off x="4663440" y="3474720"/>
            <a:ext cx="411480" cy="411480"/>
          </a:xfrm>
          <a:prstGeom prst="ellipse">
            <a:avLst/>
          </a:prstGeom>
          <a:solidFill>
            <a:schemeClr val="tx2"/>
          </a:solidFill>
          <a:ln w="12700">
            <a:solidFill>
              <a:schemeClr val="tx2"/>
            </a:solidFill>
            <a:prstDash val="solid"/>
          </a:ln>
        </p:spPr>
      </p:sp>
      <p:pic>
        <p:nvPicPr>
          <p:cNvPr id="24" name="Image 3" descr="preencoded.png">    </p:cNvPr>
          <p:cNvPicPr>
            <a:picLocks noChangeAspect="1"/>
          </p:cNvPicPr>
          <p:nvPr/>
        </p:nvPicPr>
        <p:blipFill>
          <a:blip r:embed="rId4"/>
          <a:stretch>
            <a:fillRect/>
          </a:stretch>
        </p:blipFill>
        <p:spPr>
          <a:xfrm>
            <a:off x="4770425" y="3581705"/>
            <a:ext cx="197510" cy="197510"/>
          </a:xfrm>
          <a:prstGeom prst="rect">
            <a:avLst/>
          </a:prstGeom>
        </p:spPr>
      </p:pic>
      <p:sp>
        <p:nvSpPr>
          <p:cNvPr id="25" name="Text 19"/>
          <p:cNvSpPr txBox="1"/>
          <p:nvPr/>
        </p:nvSpPr>
        <p:spPr>
          <a:xfrm>
            <a:off x="5212080" y="3447288"/>
            <a:ext cx="3474720" cy="27432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Access and cost</a:t>
            </a:r>
            <a:endParaRPr lang="en-US" sz="1400" dirty="0"/>
          </a:p>
        </p:txBody>
      </p:sp>
      <p:sp>
        <p:nvSpPr>
          <p:cNvPr id="26" name="Text 20"/>
          <p:cNvSpPr txBox="1"/>
          <p:nvPr/>
        </p:nvSpPr>
        <p:spPr>
          <a:xfrm>
            <a:off x="5212080" y="3721608"/>
            <a:ext cx="347472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APIs blocked; every post is an LLM call</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Live demo</a:t>
            </a:r>
            <a:endParaRPr lang="en-US" sz="3000" dirty="0"/>
          </a:p>
        </p:txBody>
      </p:sp>
      <p:sp>
        <p:nvSpPr>
          <p:cNvPr id="3" name="Shape 1"/>
          <p:cNvSpPr/>
          <p:nvPr/>
        </p:nvSpPr>
        <p:spPr>
          <a:xfrm>
            <a:off x="7863840" y="320040"/>
            <a:ext cx="548640" cy="54864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8006486" y="462686"/>
            <a:ext cx="263347" cy="263347"/>
          </a:xfrm>
          <a:prstGeom prst="rect">
            <a:avLst/>
          </a:prstGeom>
        </p:spPr>
      </p:pic>
      <p:sp>
        <p:nvSpPr>
          <p:cNvPr id="5" name="Shape 2"/>
          <p:cNvSpPr/>
          <p:nvPr/>
        </p:nvSpPr>
        <p:spPr>
          <a:xfrm>
            <a:off x="457200" y="1097280"/>
            <a:ext cx="384048" cy="384048"/>
          </a:xfrm>
          <a:prstGeom prst="ellipse">
            <a:avLst/>
          </a:prstGeom>
          <a:solidFill>
            <a:srgbClr val="1F9D61"/>
          </a:solidFill>
          <a:ln w="12700">
            <a:solidFill>
              <a:srgbClr val="1F9D61"/>
            </a:solidFill>
            <a:prstDash val="solid"/>
          </a:ln>
        </p:spPr>
      </p:sp>
      <p:sp>
        <p:nvSpPr>
          <p:cNvPr id="6" name="Text 3"/>
          <p:cNvSpPr txBox="1"/>
          <p:nvPr/>
        </p:nvSpPr>
        <p:spPr>
          <a:xfrm>
            <a:off x="457200" y="1097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051560" y="1078992"/>
            <a:ext cx="2194560" cy="41148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Submit</a:t>
            </a:r>
            <a:endParaRPr lang="en-US" sz="1500" dirty="0"/>
          </a:p>
        </p:txBody>
      </p:sp>
      <p:sp>
        <p:nvSpPr>
          <p:cNvPr id="8" name="Text 5"/>
          <p:cNvSpPr txBox="1"/>
          <p:nvPr/>
        </p:nvSpPr>
        <p:spPr>
          <a:xfrm>
            <a:off x="3246120" y="1078992"/>
            <a:ext cx="5440680" cy="41148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Sarcastic post → no idea · “bought TSLA puts” → SHORT</a:t>
            </a:r>
            <a:endParaRPr lang="en-US" sz="1300" dirty="0"/>
          </a:p>
        </p:txBody>
      </p:sp>
      <p:sp>
        <p:nvSpPr>
          <p:cNvPr id="9" name="Shape 6"/>
          <p:cNvSpPr/>
          <p:nvPr/>
        </p:nvSpPr>
        <p:spPr>
          <a:xfrm>
            <a:off x="457200" y="1719072"/>
            <a:ext cx="384048" cy="384048"/>
          </a:xfrm>
          <a:prstGeom prst="ellipse">
            <a:avLst/>
          </a:prstGeom>
          <a:solidFill>
            <a:srgbClr val="1F9D61"/>
          </a:solidFill>
          <a:ln w="12700">
            <a:solidFill>
              <a:srgbClr val="1F9D61"/>
            </a:solidFill>
            <a:prstDash val="solid"/>
          </a:ln>
        </p:spPr>
      </p:sp>
      <p:sp>
        <p:nvSpPr>
          <p:cNvPr id="10" name="Text 7"/>
          <p:cNvSpPr txBox="1"/>
          <p:nvPr/>
        </p:nvSpPr>
        <p:spPr>
          <a:xfrm>
            <a:off x="457200" y="17190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051560" y="1700784"/>
            <a:ext cx="2194560" cy="41148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System → Sources</a:t>
            </a:r>
            <a:endParaRPr lang="en-US" sz="1500" dirty="0"/>
          </a:p>
        </p:txBody>
      </p:sp>
      <p:sp>
        <p:nvSpPr>
          <p:cNvPr id="12" name="Text 9"/>
          <p:cNvSpPr txBox="1"/>
          <p:nvPr/>
        </p:nvSpPr>
        <p:spPr>
          <a:xfrm>
            <a:off x="3246120" y="1700784"/>
            <a:ext cx="5440680" cy="41148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Preview r/ValueInvesting for free, then ingest the kept posts</a:t>
            </a:r>
            <a:endParaRPr lang="en-US" sz="1300" dirty="0"/>
          </a:p>
        </p:txBody>
      </p:sp>
      <p:sp>
        <p:nvSpPr>
          <p:cNvPr id="13" name="Shape 10"/>
          <p:cNvSpPr/>
          <p:nvPr/>
        </p:nvSpPr>
        <p:spPr>
          <a:xfrm>
            <a:off x="457200" y="2340864"/>
            <a:ext cx="384048" cy="384048"/>
          </a:xfrm>
          <a:prstGeom prst="ellipse">
            <a:avLst/>
          </a:prstGeom>
          <a:solidFill>
            <a:srgbClr val="1F9D61"/>
          </a:solidFill>
          <a:ln w="12700">
            <a:solidFill>
              <a:srgbClr val="1F9D61"/>
            </a:solidFill>
            <a:prstDash val="solid"/>
          </a:ln>
        </p:spPr>
      </p:sp>
      <p:sp>
        <p:nvSpPr>
          <p:cNvPr id="14" name="Text 11"/>
          <p:cNvSpPr txBox="1"/>
          <p:nvPr/>
        </p:nvSpPr>
        <p:spPr>
          <a:xfrm>
            <a:off x="457200" y="234086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051560" y="2322576"/>
            <a:ext cx="2194560" cy="41148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Review</a:t>
            </a:r>
            <a:endParaRPr lang="en-US" sz="1500" dirty="0"/>
          </a:p>
        </p:txBody>
      </p:sp>
      <p:sp>
        <p:nvSpPr>
          <p:cNvPr id="16" name="Text 13"/>
          <p:cNvSpPr txBox="1"/>
          <p:nvPr/>
        </p:nvSpPr>
        <p:spPr>
          <a:xfrm>
            <a:off x="3246120" y="2322576"/>
            <a:ext cx="5440680" cy="41148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The HOOD disagreement: approve; priced from approval time</a:t>
            </a:r>
            <a:endParaRPr lang="en-US" sz="1300" dirty="0"/>
          </a:p>
        </p:txBody>
      </p:sp>
      <p:sp>
        <p:nvSpPr>
          <p:cNvPr id="17" name="Shape 14"/>
          <p:cNvSpPr/>
          <p:nvPr/>
        </p:nvSpPr>
        <p:spPr>
          <a:xfrm>
            <a:off x="457200" y="2962656"/>
            <a:ext cx="384048" cy="384048"/>
          </a:xfrm>
          <a:prstGeom prst="ellipse">
            <a:avLst/>
          </a:prstGeom>
          <a:solidFill>
            <a:srgbClr val="1F9D61"/>
          </a:solidFill>
          <a:ln w="12700">
            <a:solidFill>
              <a:srgbClr val="1F9D61"/>
            </a:solidFill>
            <a:prstDash val="solid"/>
          </a:ln>
        </p:spPr>
      </p:sp>
      <p:sp>
        <p:nvSpPr>
          <p:cNvPr id="18" name="Text 15"/>
          <p:cNvSpPr txBox="1"/>
          <p:nvPr/>
        </p:nvSpPr>
        <p:spPr>
          <a:xfrm>
            <a:off x="457200" y="29626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9" name="Text 16"/>
          <p:cNvSpPr txBox="1"/>
          <p:nvPr/>
        </p:nvSpPr>
        <p:spPr>
          <a:xfrm>
            <a:off x="1051560" y="2944368"/>
            <a:ext cx="2194560" cy="41148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Leaderboard</a:t>
            </a:r>
            <a:endParaRPr lang="en-US" sz="1500" dirty="0"/>
          </a:p>
        </p:txBody>
      </p:sp>
      <p:sp>
        <p:nvSpPr>
          <p:cNvPr id="20" name="Text 17"/>
          <p:cNvSpPr txBox="1"/>
          <p:nvPr/>
        </p:nvSpPr>
        <p:spPr>
          <a:xfrm>
            <a:off x="3246120" y="2944368"/>
            <a:ext cx="5440680" cy="41148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Rank by raw mean, then by skill estimate: the lucky streak drops</a:t>
            </a:r>
            <a:endParaRPr lang="en-US" sz="1300" dirty="0"/>
          </a:p>
        </p:txBody>
      </p:sp>
      <p:sp>
        <p:nvSpPr>
          <p:cNvPr id="21" name="Shape 18"/>
          <p:cNvSpPr/>
          <p:nvPr/>
        </p:nvSpPr>
        <p:spPr>
          <a:xfrm>
            <a:off x="457200" y="3584448"/>
            <a:ext cx="384048" cy="384048"/>
          </a:xfrm>
          <a:prstGeom prst="ellipse">
            <a:avLst/>
          </a:prstGeom>
          <a:solidFill>
            <a:srgbClr val="1F9D61"/>
          </a:solidFill>
          <a:ln w="12700">
            <a:solidFill>
              <a:srgbClr val="1F9D61"/>
            </a:solidFill>
            <a:prstDash val="solid"/>
          </a:ln>
        </p:spPr>
      </p:sp>
      <p:sp>
        <p:nvSpPr>
          <p:cNvPr id="22" name="Text 19"/>
          <p:cNvSpPr txBox="1"/>
          <p:nvPr/>
        </p:nvSpPr>
        <p:spPr>
          <a:xfrm>
            <a:off x="457200" y="35844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23" name="Text 20"/>
          <p:cNvSpPr txBox="1"/>
          <p:nvPr/>
        </p:nvSpPr>
        <p:spPr>
          <a:xfrm>
            <a:off x="1051560" y="3566160"/>
            <a:ext cx="2194560" cy="41148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Ideas · Signals</a:t>
            </a:r>
            <a:endParaRPr lang="en-US" sz="1500" dirty="0"/>
          </a:p>
        </p:txBody>
      </p:sp>
      <p:sp>
        <p:nvSpPr>
          <p:cNvPr id="24" name="Text 21"/>
          <p:cNvSpPr txBox="1"/>
          <p:nvPr/>
        </p:nvSpPr>
        <p:spPr>
          <a:xfrm>
            <a:off x="3246120" y="3566160"/>
            <a:ext cx="5440680" cy="411480"/>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Entry vs benchmark, open vs closed; skill-weighted signals and VaR</a:t>
            </a:r>
            <a:endParaRPr lang="en-US" sz="1300" dirty="0"/>
          </a:p>
        </p:txBody>
      </p:sp>
      <p:sp>
        <p:nvSpPr>
          <p:cNvPr id="25" name="Text 22"/>
          <p:cNvSpPr txBox="1"/>
          <p:nvPr/>
        </p:nvSpPr>
        <p:spPr>
          <a:xfrm>
            <a:off x="457200" y="4343400"/>
            <a:ext cx="7315200" cy="27432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~5 min · warm up Render first · local fallback ready</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What real data taught me</a:t>
            </a:r>
            <a:endParaRPr lang="en-US" sz="3000" dirty="0"/>
          </a:p>
        </p:txBody>
      </p:sp>
      <p:sp>
        <p:nvSpPr>
          <p:cNvPr id="3" name="The model was retired mid-project"/>
          <p:cNvSpPr/>
          <p:nvPr/>
        </p:nvSpPr>
        <p:spPr>
          <a:xfrm>
            <a:off x="457200" y="1097280"/>
            <a:ext cx="4023360" cy="1417320"/>
          </a:xfrm>
          <a:prstGeom prst="roundRect">
            <a:avLst>
              <a:gd name="adj" fmla="val 5161"/>
            </a:avLst>
          </a:prstGeom>
          <a:solidFill>
            <a:srgbClr val="EEF4F0"/>
          </a:solidFill>
          <a:ln w="12700">
            <a:solidFill>
              <a:srgbClr val="EEF4F0"/>
            </a:solidFill>
            <a:prstDash val="solid"/>
          </a:ln>
        </p:spPr>
      </p:sp>
      <p:sp>
        <p:nvSpPr>
          <p:cNvPr id="4" name="Shape 2"/>
          <p:cNvSpPr/>
          <p:nvPr/>
        </p:nvSpPr>
        <p:spPr>
          <a:xfrm>
            <a:off x="658368" y="1298448"/>
            <a:ext cx="411480" cy="411480"/>
          </a:xfrm>
          <a:prstGeom prst="ellipse">
            <a:avLst/>
          </a:prstGeom>
          <a:solidFill>
            <a:schemeClr val="tx2"/>
          </a:solidFill>
          <a:ln w="12700">
            <a:solidFill>
              <a:schemeClr val="tx2"/>
            </a:solidFill>
            <a:prstDash val="solid"/>
          </a:ln>
        </p:spPr>
      </p:sp>
      <p:pic>
        <p:nvPicPr>
          <p:cNvPr id="5" name="Image 0" descr="preencoded.png">    </p:cNvPr>
          <p:cNvPicPr>
            <a:picLocks noChangeAspect="1"/>
          </p:cNvPicPr>
          <p:nvPr/>
        </p:nvPicPr>
        <p:blipFill>
          <a:blip r:embed="rId1"/>
          <a:stretch>
            <a:fillRect/>
          </a:stretch>
        </p:blipFill>
        <p:spPr>
          <a:xfrm>
            <a:off x="765353" y="1405433"/>
            <a:ext cx="197510" cy="197510"/>
          </a:xfrm>
          <a:prstGeom prst="rect">
            <a:avLst/>
          </a:prstGeom>
        </p:spPr>
      </p:pic>
      <p:sp>
        <p:nvSpPr>
          <p:cNvPr id="6" name="Text 3"/>
          <p:cNvSpPr txBox="1"/>
          <p:nvPr/>
        </p:nvSpPr>
        <p:spPr>
          <a:xfrm>
            <a:off x="1207008" y="1280160"/>
            <a:ext cx="315468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The model was retired mid-project</a:t>
            </a:r>
            <a:endParaRPr lang="en-US" sz="1400" dirty="0"/>
          </a:p>
        </p:txBody>
      </p:sp>
      <p:sp>
        <p:nvSpPr>
          <p:cNvPr id="7" name="Text 4"/>
          <p:cNvSpPr txBox="1"/>
          <p:nvPr/>
        </p:nvSpPr>
        <p:spPr>
          <a:xfrm>
            <a:off x="1207008" y="1737360"/>
            <a:ext cx="3154680" cy="68580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Groq dropped llama-3.3-70b. Model is a config value; added check-llm; config errors now abort the eval</a:t>
            </a:r>
            <a:endParaRPr lang="en-US" sz="1100" dirty="0"/>
          </a:p>
        </p:txBody>
      </p:sp>
      <p:sp>
        <p:nvSpPr>
          <p:cNvPr id="8" name="Reddit blocked its API"/>
          <p:cNvSpPr/>
          <p:nvPr/>
        </p:nvSpPr>
        <p:spPr>
          <a:xfrm>
            <a:off x="4663440" y="1097280"/>
            <a:ext cx="4023360" cy="1417320"/>
          </a:xfrm>
          <a:prstGeom prst="roundRect">
            <a:avLst>
              <a:gd name="adj" fmla="val 5161"/>
            </a:avLst>
          </a:prstGeom>
          <a:solidFill>
            <a:srgbClr val="EEF4F0"/>
          </a:solidFill>
          <a:ln w="12700">
            <a:solidFill>
              <a:srgbClr val="EEF4F0"/>
            </a:solidFill>
            <a:prstDash val="solid"/>
          </a:ln>
        </p:spPr>
      </p:sp>
      <p:sp>
        <p:nvSpPr>
          <p:cNvPr id="9" name="Shape 6"/>
          <p:cNvSpPr/>
          <p:nvPr/>
        </p:nvSpPr>
        <p:spPr>
          <a:xfrm>
            <a:off x="4864608" y="1298448"/>
            <a:ext cx="411480" cy="411480"/>
          </a:xfrm>
          <a:prstGeom prst="ellipse">
            <a:avLst/>
          </a:prstGeom>
          <a:solidFill>
            <a:schemeClr val="tx2"/>
          </a:solidFill>
          <a:ln w="12700">
            <a:solidFill>
              <a:schemeClr val="tx2"/>
            </a:solidFill>
            <a:prstDash val="solid"/>
          </a:ln>
        </p:spPr>
      </p:sp>
      <p:pic>
        <p:nvPicPr>
          <p:cNvPr id="10" name="Image 1" descr="preencoded.png">    </p:cNvPr>
          <p:cNvPicPr>
            <a:picLocks noChangeAspect="1"/>
          </p:cNvPicPr>
          <p:nvPr/>
        </p:nvPicPr>
        <p:blipFill>
          <a:blip r:embed="rId2"/>
          <a:stretch>
            <a:fillRect/>
          </a:stretch>
        </p:blipFill>
        <p:spPr>
          <a:xfrm>
            <a:off x="4971593" y="1405433"/>
            <a:ext cx="197510" cy="197510"/>
          </a:xfrm>
          <a:prstGeom prst="rect">
            <a:avLst/>
          </a:prstGeom>
        </p:spPr>
      </p:pic>
      <p:sp>
        <p:nvSpPr>
          <p:cNvPr id="11" name="Text 7"/>
          <p:cNvSpPr txBox="1"/>
          <p:nvPr/>
        </p:nvSpPr>
        <p:spPr>
          <a:xfrm>
            <a:off x="5413248" y="1280160"/>
            <a:ext cx="315468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Reddit blocked its API</a:t>
            </a:r>
            <a:endParaRPr lang="en-US" sz="1400" dirty="0"/>
          </a:p>
        </p:txBody>
      </p:sp>
      <p:sp>
        <p:nvSpPr>
          <p:cNvPr id="12" name="Text 8"/>
          <p:cNvSpPr txBox="1"/>
          <p:nvPr/>
        </p:nvSpPr>
        <p:spPr>
          <a:xfrm>
            <a:off x="5413248" y="1737360"/>
            <a:ext cx="3154680" cy="68580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403 Blocked on JSON. Swapped to RSS in one class; kept the API version as a record</a:t>
            </a:r>
            <a:endParaRPr lang="en-US" sz="1100" dirty="0"/>
          </a:p>
        </p:txBody>
      </p:sp>
      <p:sp>
        <p:nvSpPr>
          <p:cNvPr id="13" name="The LLM was too strict"/>
          <p:cNvSpPr/>
          <p:nvPr/>
        </p:nvSpPr>
        <p:spPr>
          <a:xfrm>
            <a:off x="457200" y="2697480"/>
            <a:ext cx="4023360" cy="1417320"/>
          </a:xfrm>
          <a:prstGeom prst="roundRect">
            <a:avLst>
              <a:gd name="adj" fmla="val 5161"/>
            </a:avLst>
          </a:prstGeom>
          <a:solidFill>
            <a:srgbClr val="EEF4F0"/>
          </a:solidFill>
          <a:ln w="12700">
            <a:solidFill>
              <a:srgbClr val="EEF4F0"/>
            </a:solidFill>
            <a:prstDash val="solid"/>
          </a:ln>
        </p:spPr>
      </p:sp>
      <p:sp>
        <p:nvSpPr>
          <p:cNvPr id="14" name="Shape 10"/>
          <p:cNvSpPr/>
          <p:nvPr/>
        </p:nvSpPr>
        <p:spPr>
          <a:xfrm>
            <a:off x="658368" y="2898648"/>
            <a:ext cx="411480" cy="411480"/>
          </a:xfrm>
          <a:prstGeom prst="ellipse">
            <a:avLst/>
          </a:prstGeom>
          <a:solidFill>
            <a:schemeClr val="tx2"/>
          </a:solidFill>
          <a:ln w="12700">
            <a:solidFill>
              <a:schemeClr val="tx2"/>
            </a:solidFill>
            <a:prstDash val="solid"/>
          </a:ln>
        </p:spPr>
      </p:sp>
      <p:pic>
        <p:nvPicPr>
          <p:cNvPr id="15" name="Image 2" descr="preencoded.png">    </p:cNvPr>
          <p:cNvPicPr>
            <a:picLocks noChangeAspect="1"/>
          </p:cNvPicPr>
          <p:nvPr/>
        </p:nvPicPr>
        <p:blipFill>
          <a:blip r:embed="rId3"/>
          <a:stretch>
            <a:fillRect/>
          </a:stretch>
        </p:blipFill>
        <p:spPr>
          <a:xfrm>
            <a:off x="765353" y="3005633"/>
            <a:ext cx="197510" cy="197510"/>
          </a:xfrm>
          <a:prstGeom prst="rect">
            <a:avLst/>
          </a:prstGeom>
        </p:spPr>
      </p:pic>
      <p:sp>
        <p:nvSpPr>
          <p:cNvPr id="16" name="Text 11"/>
          <p:cNvSpPr txBox="1"/>
          <p:nvPr/>
        </p:nvSpPr>
        <p:spPr>
          <a:xfrm>
            <a:off x="1207008" y="2880360"/>
            <a:ext cx="315468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The LLM was too strict</a:t>
            </a:r>
            <a:endParaRPr lang="en-US" sz="1400" dirty="0"/>
          </a:p>
        </p:txBody>
      </p:sp>
      <p:sp>
        <p:nvSpPr>
          <p:cNvPr id="17" name="Text 12"/>
          <p:cNvSpPr txBox="1"/>
          <p:nvPr/>
        </p:nvSpPr>
        <p:spPr>
          <a:xfrm>
            <a:off x="1207008" y="3337560"/>
            <a:ext cx="3154680" cy="68580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Missed a bearish HOOD post. Added a keyword second opinion: disagreements go to a human</a:t>
            </a:r>
            <a:endParaRPr lang="en-US" sz="1100" dirty="0"/>
          </a:p>
        </p:txBody>
      </p:sp>
      <p:sp>
        <p:nvSpPr>
          <p:cNvPr id="18" name="A 252-day horizon bug"/>
          <p:cNvSpPr/>
          <p:nvPr/>
        </p:nvSpPr>
        <p:spPr>
          <a:xfrm>
            <a:off x="4663440" y="2697480"/>
            <a:ext cx="4023360" cy="1417320"/>
          </a:xfrm>
          <a:prstGeom prst="roundRect">
            <a:avLst>
              <a:gd name="adj" fmla="val 5161"/>
            </a:avLst>
          </a:prstGeom>
          <a:solidFill>
            <a:srgbClr val="EEF4F0"/>
          </a:solidFill>
          <a:ln w="12700">
            <a:solidFill>
              <a:srgbClr val="EEF4F0"/>
            </a:solidFill>
            <a:prstDash val="solid"/>
          </a:ln>
        </p:spPr>
      </p:sp>
      <p:sp>
        <p:nvSpPr>
          <p:cNvPr id="19" name="Shape 14"/>
          <p:cNvSpPr/>
          <p:nvPr/>
        </p:nvSpPr>
        <p:spPr>
          <a:xfrm>
            <a:off x="4864608" y="2898648"/>
            <a:ext cx="411480" cy="411480"/>
          </a:xfrm>
          <a:prstGeom prst="ellipse">
            <a:avLst/>
          </a:prstGeom>
          <a:solidFill>
            <a:schemeClr val="accent2"/>
          </a:solidFill>
          <a:ln w="12700">
            <a:solidFill>
              <a:schemeClr val="accent2"/>
            </a:solidFill>
            <a:prstDash val="solid"/>
          </a:ln>
        </p:spPr>
      </p:sp>
      <p:pic>
        <p:nvPicPr>
          <p:cNvPr id="20" name="Image 3" descr="preencoded.png">    </p:cNvPr>
          <p:cNvPicPr>
            <a:picLocks noChangeAspect="1"/>
          </p:cNvPicPr>
          <p:nvPr/>
        </p:nvPicPr>
        <p:blipFill>
          <a:blip r:embed="rId4"/>
          <a:stretch>
            <a:fillRect/>
          </a:stretch>
        </p:blipFill>
        <p:spPr>
          <a:xfrm>
            <a:off x="4971593" y="3005633"/>
            <a:ext cx="197510" cy="197510"/>
          </a:xfrm>
          <a:prstGeom prst="rect">
            <a:avLst/>
          </a:prstGeom>
        </p:spPr>
      </p:pic>
      <p:sp>
        <p:nvSpPr>
          <p:cNvPr id="21" name="Text 15"/>
          <p:cNvSpPr txBox="1"/>
          <p:nvPr/>
        </p:nvSpPr>
        <p:spPr>
          <a:xfrm>
            <a:off x="5413248" y="2880360"/>
            <a:ext cx="315468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A 252-day horizon bug</a:t>
            </a:r>
            <a:endParaRPr lang="en-US" sz="1400" dirty="0"/>
          </a:p>
        </p:txBody>
      </p:sp>
      <p:sp>
        <p:nvSpPr>
          <p:cNvPr id="22" name="Text 16"/>
          <p:cNvSpPr txBox="1"/>
          <p:nvPr/>
        </p:nvSpPr>
        <p:spPr>
          <a:xfrm>
            <a:off x="5413248" y="3337560"/>
            <a:ext cx="3154680" cy="68580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“CAGR over 3 years” read as a horizon. Fixed; the idea stays (append-only), so the fix is correction records, not edits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Next steps</a:t>
            </a:r>
            <a:endParaRPr lang="en-US" sz="3000" dirty="0"/>
          </a:p>
        </p:txBody>
      </p:sp>
      <p:sp>
        <p:nvSpPr>
          <p:cNvPr id="3" name="Shape 1"/>
          <p:cNvSpPr/>
          <p:nvPr/>
        </p:nvSpPr>
        <p:spPr>
          <a:xfrm>
            <a:off x="457200" y="1143000"/>
            <a:ext cx="457200" cy="45720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576072" y="1261872"/>
            <a:ext cx="219456" cy="219456"/>
          </a:xfrm>
          <a:prstGeom prst="rect">
            <a:avLst/>
          </a:prstGeom>
        </p:spPr>
      </p:pic>
      <p:sp>
        <p:nvSpPr>
          <p:cNvPr id="5" name="Text 2"/>
          <p:cNvSpPr txBox="1"/>
          <p:nvPr/>
        </p:nvSpPr>
        <p:spPr>
          <a:xfrm>
            <a:off x="457200" y="1709928"/>
            <a:ext cx="2606040" cy="3200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Correction records</a:t>
            </a:r>
            <a:endParaRPr lang="en-US" sz="1400" dirty="0"/>
          </a:p>
        </p:txBody>
      </p:sp>
      <p:sp>
        <p:nvSpPr>
          <p:cNvPr id="6" name="Text 3"/>
          <p:cNvSpPr txBox="1"/>
          <p:nvPr/>
        </p:nvSpPr>
        <p:spPr>
          <a:xfrm>
            <a:off x="457200" y="2029968"/>
            <a:ext cx="2606040" cy="54864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“Void” an idea with a reason instead of editing history</a:t>
            </a:r>
            <a:endParaRPr lang="en-US" sz="1100" dirty="0"/>
          </a:p>
        </p:txBody>
      </p:sp>
      <p:sp>
        <p:nvSpPr>
          <p:cNvPr id="7" name="Shape 4"/>
          <p:cNvSpPr/>
          <p:nvPr/>
        </p:nvSpPr>
        <p:spPr>
          <a:xfrm>
            <a:off x="3246120" y="1143000"/>
            <a:ext cx="457200" cy="457200"/>
          </a:xfrm>
          <a:prstGeom prst="ellipse">
            <a:avLst/>
          </a:prstGeom>
          <a:solidFill>
            <a:schemeClr val="accent1"/>
          </a:solidFill>
          <a:ln w="1270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3364992" y="1261872"/>
            <a:ext cx="219456" cy="219456"/>
          </a:xfrm>
          <a:prstGeom prst="rect">
            <a:avLst/>
          </a:prstGeom>
        </p:spPr>
      </p:pic>
      <p:sp>
        <p:nvSpPr>
          <p:cNvPr id="9" name="Text 5"/>
          <p:cNvSpPr txBox="1"/>
          <p:nvPr/>
        </p:nvSpPr>
        <p:spPr>
          <a:xfrm>
            <a:off x="3246120" y="1709928"/>
            <a:ext cx="2606040" cy="3200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Free labelled eval</a:t>
            </a:r>
            <a:endParaRPr lang="en-US" sz="1400" dirty="0"/>
          </a:p>
        </p:txBody>
      </p:sp>
      <p:sp>
        <p:nvSpPr>
          <p:cNvPr id="10" name="Text 6"/>
          <p:cNvSpPr txBox="1"/>
          <p:nvPr/>
        </p:nvSpPr>
        <p:spPr>
          <a:xfrm>
            <a:off x="3246120" y="2029968"/>
            <a:ext cx="2606040" cy="54864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StockTwits authors tag Bullish/Bearish: thousands of labels to test the LLM</a:t>
            </a:r>
            <a:endParaRPr lang="en-US" sz="1100" dirty="0"/>
          </a:p>
        </p:txBody>
      </p:sp>
      <p:sp>
        <p:nvSpPr>
          <p:cNvPr id="11" name="Shape 7"/>
          <p:cNvSpPr/>
          <p:nvPr/>
        </p:nvSpPr>
        <p:spPr>
          <a:xfrm>
            <a:off x="6035040" y="1143000"/>
            <a:ext cx="457200" cy="457200"/>
          </a:xfrm>
          <a:prstGeom prst="ellipse">
            <a:avLst/>
          </a:prstGeom>
          <a:solidFill>
            <a:schemeClr val="accent1"/>
          </a:solidFill>
          <a:ln w="1270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6153912" y="1261872"/>
            <a:ext cx="219456" cy="219456"/>
          </a:xfrm>
          <a:prstGeom prst="rect">
            <a:avLst/>
          </a:prstGeom>
        </p:spPr>
      </p:pic>
      <p:sp>
        <p:nvSpPr>
          <p:cNvPr id="13" name="Text 8"/>
          <p:cNvSpPr txBox="1"/>
          <p:nvPr/>
        </p:nvSpPr>
        <p:spPr>
          <a:xfrm>
            <a:off x="6035040" y="1709928"/>
            <a:ext cx="2606040" cy="3200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Better scoring</a:t>
            </a:r>
            <a:endParaRPr lang="en-US" sz="1400" dirty="0"/>
          </a:p>
        </p:txBody>
      </p:sp>
      <p:sp>
        <p:nvSpPr>
          <p:cNvPr id="14" name="Text 9"/>
          <p:cNvSpPr txBox="1"/>
          <p:nvPr/>
        </p:nvSpPr>
        <p:spPr>
          <a:xfrm>
            <a:off x="6035040" y="2029968"/>
            <a:ext cx="2606040" cy="54864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Volatility-adjusted returns, time decay, sector benchmarks</a:t>
            </a:r>
            <a:endParaRPr lang="en-US" sz="1100" dirty="0"/>
          </a:p>
        </p:txBody>
      </p:sp>
      <p:sp>
        <p:nvSpPr>
          <p:cNvPr id="15" name="Shape 10"/>
          <p:cNvSpPr/>
          <p:nvPr/>
        </p:nvSpPr>
        <p:spPr>
          <a:xfrm>
            <a:off x="457200" y="2697480"/>
            <a:ext cx="457200" cy="457200"/>
          </a:xfrm>
          <a:prstGeom prst="ellipse">
            <a:avLst/>
          </a:prstGeom>
          <a:solidFill>
            <a:schemeClr val="accent1"/>
          </a:solidFill>
          <a:ln w="12700">
            <a:solidFill>
              <a:schemeClr val="accent1"/>
            </a:solidFill>
            <a:prstDash val="solid"/>
          </a:ln>
        </p:spPr>
      </p:sp>
      <p:pic>
        <p:nvPicPr>
          <p:cNvPr id="16" name="Image 3" descr="preencoded.png">    </p:cNvPr>
          <p:cNvPicPr>
            <a:picLocks noChangeAspect="1"/>
          </p:cNvPicPr>
          <p:nvPr/>
        </p:nvPicPr>
        <p:blipFill>
          <a:blip r:embed="rId4"/>
          <a:stretch>
            <a:fillRect/>
          </a:stretch>
        </p:blipFill>
        <p:spPr>
          <a:xfrm>
            <a:off x="576072" y="2816352"/>
            <a:ext cx="219456" cy="219456"/>
          </a:xfrm>
          <a:prstGeom prst="rect">
            <a:avLst/>
          </a:prstGeom>
        </p:spPr>
      </p:pic>
      <p:sp>
        <p:nvSpPr>
          <p:cNvPr id="17" name="Text 11"/>
          <p:cNvSpPr txBox="1"/>
          <p:nvPr/>
        </p:nvSpPr>
        <p:spPr>
          <a:xfrm>
            <a:off x="457200" y="3264408"/>
            <a:ext cx="2606040" cy="3200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Careful backfill</a:t>
            </a:r>
            <a:endParaRPr lang="en-US" sz="1400" dirty="0"/>
          </a:p>
        </p:txBody>
      </p:sp>
      <p:sp>
        <p:nvSpPr>
          <p:cNvPr id="18" name="Text 12"/>
          <p:cNvSpPr txBox="1"/>
          <p:nvPr/>
        </p:nvSpPr>
        <p:spPr>
          <a:xfrm>
            <a:off x="457200" y="3584448"/>
            <a:ext cx="2606040" cy="54864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Historical posts with edit detection, to fill the leaderboard faster</a:t>
            </a:r>
            <a:endParaRPr lang="en-US" sz="1100" dirty="0"/>
          </a:p>
        </p:txBody>
      </p:sp>
      <p:sp>
        <p:nvSpPr>
          <p:cNvPr id="19" name="Shape 13"/>
          <p:cNvSpPr/>
          <p:nvPr/>
        </p:nvSpPr>
        <p:spPr>
          <a:xfrm>
            <a:off x="3246120" y="2697480"/>
            <a:ext cx="457200" cy="457200"/>
          </a:xfrm>
          <a:prstGeom prst="ellipse">
            <a:avLst/>
          </a:prstGeom>
          <a:solidFill>
            <a:schemeClr val="accent1"/>
          </a:solidFill>
          <a:ln w="12700">
            <a:solidFill>
              <a:schemeClr val="accent1"/>
            </a:solidFill>
            <a:prstDash val="solid"/>
          </a:ln>
        </p:spPr>
      </p:sp>
      <p:pic>
        <p:nvPicPr>
          <p:cNvPr id="20" name="Image 4" descr="preencoded.png">    </p:cNvPr>
          <p:cNvPicPr>
            <a:picLocks noChangeAspect="1"/>
          </p:cNvPicPr>
          <p:nvPr/>
        </p:nvPicPr>
        <p:blipFill>
          <a:blip r:embed="rId5"/>
          <a:stretch>
            <a:fillRect/>
          </a:stretch>
        </p:blipFill>
        <p:spPr>
          <a:xfrm>
            <a:off x="3364992" y="2816352"/>
            <a:ext cx="219456" cy="219456"/>
          </a:xfrm>
          <a:prstGeom prst="rect">
            <a:avLst/>
          </a:prstGeom>
        </p:spPr>
      </p:pic>
      <p:sp>
        <p:nvSpPr>
          <p:cNvPr id="21" name="Text 14"/>
          <p:cNvSpPr txBox="1"/>
          <p:nvPr/>
        </p:nvSpPr>
        <p:spPr>
          <a:xfrm>
            <a:off x="3246120" y="3264408"/>
            <a:ext cx="2606040" cy="3200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Scale out</a:t>
            </a:r>
            <a:endParaRPr lang="en-US" sz="1400" dirty="0"/>
          </a:p>
        </p:txBody>
      </p:sp>
      <p:sp>
        <p:nvSpPr>
          <p:cNvPr id="22" name="Text 15"/>
          <p:cNvSpPr txBox="1"/>
          <p:nvPr/>
        </p:nvSpPr>
        <p:spPr>
          <a:xfrm>
            <a:off x="3246120" y="3584448"/>
            <a:ext cx="2606040" cy="54864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Shared rate limiter, LISTEN/NOTIFY, several API instances</a:t>
            </a:r>
            <a:endParaRPr lang="en-US" sz="1100" dirty="0"/>
          </a:p>
        </p:txBody>
      </p:sp>
      <p:sp>
        <p:nvSpPr>
          <p:cNvPr id="23" name="Shape 16"/>
          <p:cNvSpPr/>
          <p:nvPr/>
        </p:nvSpPr>
        <p:spPr>
          <a:xfrm>
            <a:off x="6035040" y="2697480"/>
            <a:ext cx="457200" cy="457200"/>
          </a:xfrm>
          <a:prstGeom prst="ellipse">
            <a:avLst/>
          </a:prstGeom>
          <a:solidFill>
            <a:schemeClr val="accent1"/>
          </a:solidFill>
          <a:ln w="12700">
            <a:solidFill>
              <a:schemeClr val="accent1"/>
            </a:solidFill>
            <a:prstDash val="solid"/>
          </a:ln>
        </p:spPr>
      </p:sp>
      <p:pic>
        <p:nvPicPr>
          <p:cNvPr id="24" name="Image 5" descr="preencoded.png">    </p:cNvPr>
          <p:cNvPicPr>
            <a:picLocks noChangeAspect="1"/>
          </p:cNvPicPr>
          <p:nvPr/>
        </p:nvPicPr>
        <p:blipFill>
          <a:blip r:embed="rId6"/>
          <a:stretch>
            <a:fillRect/>
          </a:stretch>
        </p:blipFill>
        <p:spPr>
          <a:xfrm>
            <a:off x="6153912" y="2816352"/>
            <a:ext cx="219456" cy="219456"/>
          </a:xfrm>
          <a:prstGeom prst="rect">
            <a:avLst/>
          </a:prstGeom>
        </p:spPr>
      </p:pic>
      <p:sp>
        <p:nvSpPr>
          <p:cNvPr id="25" name="Text 17"/>
          <p:cNvSpPr txBox="1"/>
          <p:nvPr/>
        </p:nvSpPr>
        <p:spPr>
          <a:xfrm>
            <a:off x="6035040" y="3264408"/>
            <a:ext cx="2606040" cy="3200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Official access</a:t>
            </a:r>
            <a:endParaRPr lang="en-US" sz="1400" dirty="0"/>
          </a:p>
        </p:txBody>
      </p:sp>
      <p:sp>
        <p:nvSpPr>
          <p:cNvPr id="26" name="Text 18"/>
          <p:cNvSpPr txBox="1"/>
          <p:nvPr/>
        </p:nvSpPr>
        <p:spPr>
          <a:xfrm>
            <a:off x="6035040" y="3584448"/>
            <a:ext cx="2606040" cy="54864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Reddit OAuth and StockTwits API instead of public feeds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D77"/>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algn="l" indent="0" marL="0">
              <a:buNone/>
            </a:pPr>
            <a:r>
              <a:rPr lang="en-US" sz="3800" b="1" dirty="0">
                <a:solidFill>
                  <a:schemeClr val="bg1"/>
                </a:solidFill>
              </a:rPr>
              <a:t>Score the source, not the stock</a:t>
            </a:r>
            <a:endParaRPr lang="en-US" sz="4800" dirty="0"/>
          </a:p>
        </p:txBody>
      </p:sp>
      <p:sp>
        <p:nvSpPr>
          <p:cNvPr id="3" name="Text 0"/>
          <p:cNvSpPr/>
          <p:nvPr>
            <p:ph idx="101" type="body" hasCustomPrompt="1"/>
          </p:nvPr>
        </p:nvSpPr>
        <p:spPr>
          <a:xfrm>
            <a:off x="548640" y="2514600"/>
            <a:ext cx="8046720" cy="1188720"/>
          </a:xfrm>
          <a:prstGeom prst="rect">
            <a:avLst/>
          </a:prstGeom>
          <a:noFill/>
          <a:ln/>
        </p:spPr>
        <p:txBody>
          <a:bodyPr wrap="square" lIns="0" tIns="0" rIns="0" bIns="0" rtlCol="0" anchor="t"/>
          <a:lstStyle/>
          <a:p>
            <a:pPr algn="l" indent="0" marL="0">
              <a:buNone/>
            </a:pPr>
            <a:r>
              <a:rPr lang="en-US" sz="2000" dirty="0">
                <a:solidFill>
                  <a:schemeClr val="accent5"/>
                </a:solidFill>
              </a:rPr>
              <a:t>Thank you · questions welcome</a:t>
            </a:r>
            <a:endParaRPr lang="en-US" sz="2000" dirty="0"/>
          </a:p>
          <a:p>
            <a:pPr algn="l" indent="0" marL="0">
              <a:buNone/>
            </a:pPr>
            <a:r>
              <a:rPr lang="en-US" sz="1400" dirty="0">
                <a:solidFill>
                  <a:schemeClr val="accent4"/>
                </a:solidFill>
                <a:latin typeface="Courier New" pitchFamily="34" charset="0"/>
                <a:ea typeface="Courier New" pitchFamily="34" charset="-122"/>
                <a:cs typeface="Courier New" pitchFamily="34" charset="-120"/>
              </a:rPr>
              <a:t>github.com/[your-username]/tally</a:t>
            </a:r>
            <a:endParaRPr lang="en-US" sz="2000" dirty="0"/>
          </a:p>
        </p:txBody>
      </p:sp>
      <p:sp>
        <p:nvSpPr>
          <p:cNvPr id="4" name="Shape 2"/>
          <p:cNvSpPr/>
          <p:nvPr/>
        </p:nvSpPr>
        <p:spPr>
          <a:xfrm>
            <a:off x="6949440" y="640080"/>
            <a:ext cx="0" cy="640080"/>
          </a:xfrm>
          <a:prstGeom prst="line">
            <a:avLst/>
          </a:prstGeom>
          <a:noFill/>
          <a:ln w="50800">
            <a:solidFill>
              <a:srgbClr val="1F9D61"/>
            </a:solidFill>
            <a:prstDash val="solid"/>
          </a:ln>
        </p:spPr>
      </p:sp>
      <p:sp>
        <p:nvSpPr>
          <p:cNvPr id="5" name="Shape 3"/>
          <p:cNvSpPr/>
          <p:nvPr/>
        </p:nvSpPr>
        <p:spPr>
          <a:xfrm>
            <a:off x="7150608" y="640080"/>
            <a:ext cx="0" cy="640080"/>
          </a:xfrm>
          <a:prstGeom prst="line">
            <a:avLst/>
          </a:prstGeom>
          <a:noFill/>
          <a:ln w="50800">
            <a:solidFill>
              <a:srgbClr val="1F9D61"/>
            </a:solidFill>
            <a:prstDash val="solid"/>
          </a:ln>
        </p:spPr>
      </p:sp>
      <p:sp>
        <p:nvSpPr>
          <p:cNvPr id="6" name="Shape 4"/>
          <p:cNvSpPr/>
          <p:nvPr/>
        </p:nvSpPr>
        <p:spPr>
          <a:xfrm>
            <a:off x="7351776" y="640080"/>
            <a:ext cx="0" cy="640080"/>
          </a:xfrm>
          <a:prstGeom prst="line">
            <a:avLst/>
          </a:prstGeom>
          <a:noFill/>
          <a:ln w="50800">
            <a:solidFill>
              <a:srgbClr val="1F9D61"/>
            </a:solidFill>
            <a:prstDash val="solid"/>
          </a:ln>
        </p:spPr>
      </p:sp>
      <p:sp>
        <p:nvSpPr>
          <p:cNvPr id="7" name="Shape 5"/>
          <p:cNvSpPr/>
          <p:nvPr/>
        </p:nvSpPr>
        <p:spPr>
          <a:xfrm>
            <a:off x="7552944" y="640080"/>
            <a:ext cx="0" cy="640080"/>
          </a:xfrm>
          <a:prstGeom prst="line">
            <a:avLst/>
          </a:prstGeom>
          <a:noFill/>
          <a:ln w="50800">
            <a:solidFill>
              <a:srgbClr val="1F9D61"/>
            </a:solidFill>
            <a:prstDash val="solid"/>
          </a:ln>
        </p:spPr>
      </p:sp>
      <p:sp>
        <p:nvSpPr>
          <p:cNvPr id="8" name="Shape 6"/>
          <p:cNvSpPr/>
          <p:nvPr/>
        </p:nvSpPr>
        <p:spPr>
          <a:xfrm>
            <a:off x="6812280" y="1188720"/>
            <a:ext cx="868680" cy="-457200"/>
          </a:xfrm>
          <a:prstGeom prst="line">
            <a:avLst/>
          </a:prstGeom>
          <a:noFill/>
          <a:ln w="50800">
            <a:solidFill>
              <a:srgbClr val="1F9D61"/>
            </a:solidFill>
            <a:prstDash val="solid"/>
          </a:ln>
        </p:spPr>
      </p:sp>
    </p:spTree>
  </p:cSld>
  <p:clrMapOvr>
    <a:masterClrMapping/>
  </p:clrMapOvr>
</p:sld>
</file>

<file path=ppt/theme/theme1.xml><?xml version="1.0" encoding="utf-8"?>
<a:theme xmlns:a="http://schemas.openxmlformats.org/drawingml/2006/main" name="Tally Ledger">
  <a:themeElements>
    <a:clrScheme name="Tally Ledger">
      <a:dk1>
        <a:srgbClr val="1B2A27"/>
      </a:dk1>
      <a:lt1>
        <a:srgbClr val="FFFFFF"/>
      </a:lt1>
      <a:dk2>
        <a:srgbClr val="2E4A43"/>
      </a:dk2>
      <a:lt2>
        <a:srgbClr val="EEF4F0"/>
      </a:lt2>
      <a:accent1>
        <a:srgbClr val="1F9D61"/>
      </a:accent1>
      <a:accent2>
        <a:srgbClr val="D64545"/>
      </a:accent2>
      <a:accent3>
        <a:srgbClr val="C9A227"/>
      </a:accent3>
      <a:accent4>
        <a:srgbClr val="5E7A72"/>
      </a:accent4>
      <a:accent5>
        <a:srgbClr val="A9C7BA"/>
      </a:accent5>
      <a:accent6>
        <a:srgbClr val="16211F"/>
      </a:accent6>
      <a:hlink>
        <a:srgbClr val="1F9D61"/>
      </a:hlink>
      <a:folHlink>
        <a:srgbClr val="2E4A43"/>
      </a:folHlink>
    </a:clrScheme>
    <a:fontScheme name="Tally Led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Tally: who actually makes good calls?</dc:title>
  <dc:subject>PptxGenJS Presentation</dc:subject>
  <dc:creator>Rie Ian Ong</dc:creator>
  <cp:lastModifiedBy>Rie Ian Ong</cp:lastModifiedBy>
  <cp:revision>1</cp:revision>
  <dcterms:created xsi:type="dcterms:W3CDTF">2026-10-21T07:17:10Z</dcterms:created>
  <dcterms:modified xsi:type="dcterms:W3CDTF">2026-10-21T07:17:10Z</dcterms:modified>
</cp:coreProperties>
</file>